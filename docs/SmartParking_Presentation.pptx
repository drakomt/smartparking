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30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303" r:id="rId40"/>
    <p:sldId id="293" r:id="rId41"/>
    <p:sldId id="304" r:id="rId42"/>
    <p:sldId id="294" r:id="rId43"/>
    <p:sldId id="306" r:id="rId44"/>
    <p:sldId id="295" r:id="rId45"/>
    <p:sldId id="296" r:id="rId46"/>
    <p:sldId id="297" r:id="rId47"/>
    <p:sldId id="307" r:id="rId48"/>
    <p:sldId id="305" r:id="rId49"/>
    <p:sldId id="30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040F9E-9D98-46E5-815A-F619AF937557}" v="2" dt="2026-09-30T09:55:17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lev Halabi" userId="6d1f2b48-7b9a-4750-93ef-945382169efd" providerId="ADAL" clId="{E087893A-5AFC-4EC9-944F-9D1B824A31BF}"/>
    <pc:docChg chg="undo custSel modSld">
      <pc:chgData name="Dolev Halabi" userId="6d1f2b48-7b9a-4750-93ef-945382169efd" providerId="ADAL" clId="{E087893A-5AFC-4EC9-944F-9D1B824A31BF}" dt="2026-09-30T10:15:42.577" v="364" actId="20577"/>
      <pc:docMkLst>
        <pc:docMk/>
      </pc:docMkLst>
      <pc:sldChg chg="modSp mod">
        <pc:chgData name="Dolev Halabi" userId="6d1f2b48-7b9a-4750-93ef-945382169efd" providerId="ADAL" clId="{E087893A-5AFC-4EC9-944F-9D1B824A31BF}" dt="2026-09-30T08:48:37.009" v="15" actId="12"/>
        <pc:sldMkLst>
          <pc:docMk/>
          <pc:sldMk cId="1062400917" sldId="260"/>
        </pc:sldMkLst>
        <pc:spChg chg="mod">
          <ac:chgData name="Dolev Halabi" userId="6d1f2b48-7b9a-4750-93ef-945382169efd" providerId="ADAL" clId="{E087893A-5AFC-4EC9-944F-9D1B824A31BF}" dt="2026-09-30T08:48:25.263" v="11" actId="12"/>
          <ac:spMkLst>
            <pc:docMk/>
            <pc:sldMk cId="1062400917" sldId="260"/>
            <ac:spMk id="9" creationId="{CF20249D-C157-4F02-B108-04AEB28AA31A}"/>
          </ac:spMkLst>
        </pc:spChg>
        <pc:spChg chg="mod">
          <ac:chgData name="Dolev Halabi" userId="6d1f2b48-7b9a-4750-93ef-945382169efd" providerId="ADAL" clId="{E087893A-5AFC-4EC9-944F-9D1B824A31BF}" dt="2026-09-30T08:48:37.009" v="15" actId="12"/>
          <ac:spMkLst>
            <pc:docMk/>
            <pc:sldMk cId="1062400917" sldId="260"/>
            <ac:spMk id="11" creationId="{72AA11E2-8976-437F-B433-3F7989893C49}"/>
          </ac:spMkLst>
        </pc:spChg>
      </pc:sldChg>
      <pc:sldChg chg="modSp mod">
        <pc:chgData name="Dolev Halabi" userId="6d1f2b48-7b9a-4750-93ef-945382169efd" providerId="ADAL" clId="{E087893A-5AFC-4EC9-944F-9D1B824A31BF}" dt="2026-09-30T08:49:35.977" v="22" actId="20577"/>
        <pc:sldMkLst>
          <pc:docMk/>
          <pc:sldMk cId="1470516651" sldId="261"/>
        </pc:sldMkLst>
        <pc:spChg chg="mod">
          <ac:chgData name="Dolev Halabi" userId="6d1f2b48-7b9a-4750-93ef-945382169efd" providerId="ADAL" clId="{E087893A-5AFC-4EC9-944F-9D1B824A31BF}" dt="2026-09-30T08:49:35.977" v="22" actId="20577"/>
          <ac:spMkLst>
            <pc:docMk/>
            <pc:sldMk cId="1470516651" sldId="261"/>
            <ac:spMk id="24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08:49:31.981" v="20" actId="20577"/>
          <ac:spMkLst>
            <pc:docMk/>
            <pc:sldMk cId="1470516651" sldId="261"/>
            <ac:spMk id="32" creationId="{00000000-0000-0000-0000-000000000000}"/>
          </ac:spMkLst>
        </pc:spChg>
      </pc:sldChg>
      <pc:sldChg chg="modSp mod">
        <pc:chgData name="Dolev Halabi" userId="6d1f2b48-7b9a-4750-93ef-945382169efd" providerId="ADAL" clId="{E087893A-5AFC-4EC9-944F-9D1B824A31BF}" dt="2026-09-30T08:50:17.979" v="24" actId="12"/>
        <pc:sldMkLst>
          <pc:docMk/>
          <pc:sldMk cId="143450048" sldId="262"/>
        </pc:sldMkLst>
        <pc:spChg chg="mod">
          <ac:chgData name="Dolev Halabi" userId="6d1f2b48-7b9a-4750-93ef-945382169efd" providerId="ADAL" clId="{E087893A-5AFC-4EC9-944F-9D1B824A31BF}" dt="2026-09-30T08:50:14.309" v="23" actId="12"/>
          <ac:spMkLst>
            <pc:docMk/>
            <pc:sldMk cId="143450048" sldId="262"/>
            <ac:spMk id="9" creationId="{060A8674-9C71-4B13-947F-6C0380D9EAAB}"/>
          </ac:spMkLst>
        </pc:spChg>
        <pc:spChg chg="mod">
          <ac:chgData name="Dolev Halabi" userId="6d1f2b48-7b9a-4750-93ef-945382169efd" providerId="ADAL" clId="{E087893A-5AFC-4EC9-944F-9D1B824A31BF}" dt="2026-09-30T08:50:17.979" v="24" actId="12"/>
          <ac:spMkLst>
            <pc:docMk/>
            <pc:sldMk cId="143450048" sldId="262"/>
            <ac:spMk id="11" creationId="{3CAF8372-7C87-4F67-B963-7C2E43F20884}"/>
          </ac:spMkLst>
        </pc:spChg>
      </pc:sldChg>
      <pc:sldChg chg="modSp mod">
        <pc:chgData name="Dolev Halabi" userId="6d1f2b48-7b9a-4750-93ef-945382169efd" providerId="ADAL" clId="{E087893A-5AFC-4EC9-944F-9D1B824A31BF}" dt="2026-09-30T08:51:31.010" v="28" actId="20577"/>
        <pc:sldMkLst>
          <pc:docMk/>
          <pc:sldMk cId="44782778" sldId="263"/>
        </pc:sldMkLst>
        <pc:spChg chg="mod">
          <ac:chgData name="Dolev Halabi" userId="6d1f2b48-7b9a-4750-93ef-945382169efd" providerId="ADAL" clId="{E087893A-5AFC-4EC9-944F-9D1B824A31BF}" dt="2026-09-30T08:51:31.010" v="28" actId="20577"/>
          <ac:spMkLst>
            <pc:docMk/>
            <pc:sldMk cId="44782778" sldId="263"/>
            <ac:spMk id="14" creationId="{2C70541D-F031-434D-AE1C-C66A4CC0B282}"/>
          </ac:spMkLst>
        </pc:spChg>
      </pc:sldChg>
      <pc:sldChg chg="modSp mod">
        <pc:chgData name="Dolev Halabi" userId="6d1f2b48-7b9a-4750-93ef-945382169efd" providerId="ADAL" clId="{E087893A-5AFC-4EC9-944F-9D1B824A31BF}" dt="2026-09-30T09:10:47.491" v="36" actId="20577"/>
        <pc:sldMkLst>
          <pc:docMk/>
          <pc:sldMk cId="219816462" sldId="264"/>
        </pc:sldMkLst>
        <pc:spChg chg="mod">
          <ac:chgData name="Dolev Halabi" userId="6d1f2b48-7b9a-4750-93ef-945382169efd" providerId="ADAL" clId="{E087893A-5AFC-4EC9-944F-9D1B824A31BF}" dt="2026-09-30T09:10:47.491" v="36" actId="20577"/>
          <ac:spMkLst>
            <pc:docMk/>
            <pc:sldMk cId="219816462" sldId="264"/>
            <ac:spMk id="33" creationId="{00000000-0000-0000-0000-000000000000}"/>
          </ac:spMkLst>
        </pc:spChg>
      </pc:sldChg>
      <pc:sldChg chg="modSp mod">
        <pc:chgData name="Dolev Halabi" userId="6d1f2b48-7b9a-4750-93ef-945382169efd" providerId="ADAL" clId="{E087893A-5AFC-4EC9-944F-9D1B824A31BF}" dt="2026-09-30T09:17:26.860" v="42" actId="20577"/>
        <pc:sldMkLst>
          <pc:docMk/>
          <pc:sldMk cId="1805766865" sldId="267"/>
        </pc:sldMkLst>
        <pc:spChg chg="mod">
          <ac:chgData name="Dolev Halabi" userId="6d1f2b48-7b9a-4750-93ef-945382169efd" providerId="ADAL" clId="{E087893A-5AFC-4EC9-944F-9D1B824A31BF}" dt="2026-09-30T09:17:26.860" v="42" actId="20577"/>
          <ac:spMkLst>
            <pc:docMk/>
            <pc:sldMk cId="1805766865" sldId="267"/>
            <ac:spMk id="10" creationId="{DF6455B6-11B8-4FAC-B457-B5E16AD659B6}"/>
          </ac:spMkLst>
        </pc:spChg>
      </pc:sldChg>
      <pc:sldChg chg="modSp mod">
        <pc:chgData name="Dolev Halabi" userId="6d1f2b48-7b9a-4750-93ef-945382169efd" providerId="ADAL" clId="{E087893A-5AFC-4EC9-944F-9D1B824A31BF}" dt="2026-09-30T09:15:52.175" v="39" actId="12"/>
        <pc:sldMkLst>
          <pc:docMk/>
          <pc:sldMk cId="1719678894" sldId="268"/>
        </pc:sldMkLst>
        <pc:spChg chg="mod">
          <ac:chgData name="Dolev Halabi" userId="6d1f2b48-7b9a-4750-93ef-945382169efd" providerId="ADAL" clId="{E087893A-5AFC-4EC9-944F-9D1B824A31BF}" dt="2026-09-30T09:15:52.175" v="39" actId="12"/>
          <ac:spMkLst>
            <pc:docMk/>
            <pc:sldMk cId="1719678894" sldId="268"/>
            <ac:spMk id="9" creationId="{BE68BA35-47DC-4D7D-993F-7F3BC0DF3180}"/>
          </ac:spMkLst>
        </pc:spChg>
      </pc:sldChg>
      <pc:sldChg chg="modSp mod">
        <pc:chgData name="Dolev Halabi" userId="6d1f2b48-7b9a-4750-93ef-945382169efd" providerId="ADAL" clId="{E087893A-5AFC-4EC9-944F-9D1B824A31BF}" dt="2026-09-30T09:22:32.902" v="43" actId="12"/>
        <pc:sldMkLst>
          <pc:docMk/>
          <pc:sldMk cId="1771044808" sldId="269"/>
        </pc:sldMkLst>
        <pc:spChg chg="mod">
          <ac:chgData name="Dolev Halabi" userId="6d1f2b48-7b9a-4750-93ef-945382169efd" providerId="ADAL" clId="{E087893A-5AFC-4EC9-944F-9D1B824A31BF}" dt="2026-09-30T09:22:32.902" v="43" actId="12"/>
          <ac:spMkLst>
            <pc:docMk/>
            <pc:sldMk cId="1771044808" sldId="269"/>
            <ac:spMk id="10" creationId="{DE248037-8DA8-43AA-AD3A-6D8CF889D724}"/>
          </ac:spMkLst>
        </pc:spChg>
      </pc:sldChg>
      <pc:sldChg chg="modSp mod">
        <pc:chgData name="Dolev Halabi" userId="6d1f2b48-7b9a-4750-93ef-945382169efd" providerId="ADAL" clId="{E087893A-5AFC-4EC9-944F-9D1B824A31BF}" dt="2026-09-30T09:23:17.867" v="45" actId="12"/>
        <pc:sldMkLst>
          <pc:docMk/>
          <pc:sldMk cId="397280817" sldId="270"/>
        </pc:sldMkLst>
        <pc:spChg chg="mod">
          <ac:chgData name="Dolev Halabi" userId="6d1f2b48-7b9a-4750-93ef-945382169efd" providerId="ADAL" clId="{E087893A-5AFC-4EC9-944F-9D1B824A31BF}" dt="2026-09-30T09:23:17.867" v="45" actId="12"/>
          <ac:spMkLst>
            <pc:docMk/>
            <pc:sldMk cId="397280817" sldId="270"/>
            <ac:spMk id="10" creationId="{81F17F50-3A7E-4A92-BC7B-798523573923}"/>
          </ac:spMkLst>
        </pc:spChg>
      </pc:sldChg>
      <pc:sldChg chg="modSp mod">
        <pc:chgData name="Dolev Halabi" userId="6d1f2b48-7b9a-4750-93ef-945382169efd" providerId="ADAL" clId="{E087893A-5AFC-4EC9-944F-9D1B824A31BF}" dt="2026-09-30T09:23:44.828" v="46" actId="12"/>
        <pc:sldMkLst>
          <pc:docMk/>
          <pc:sldMk cId="1027631289" sldId="271"/>
        </pc:sldMkLst>
        <pc:spChg chg="mod">
          <ac:chgData name="Dolev Halabi" userId="6d1f2b48-7b9a-4750-93ef-945382169efd" providerId="ADAL" clId="{E087893A-5AFC-4EC9-944F-9D1B824A31BF}" dt="2026-09-30T09:23:44.828" v="46" actId="12"/>
          <ac:spMkLst>
            <pc:docMk/>
            <pc:sldMk cId="1027631289" sldId="271"/>
            <ac:spMk id="9" creationId="{4FACF26C-339F-4570-886F-890AA2BC4A5B}"/>
          </ac:spMkLst>
        </pc:spChg>
      </pc:sldChg>
      <pc:sldChg chg="modSp mod">
        <pc:chgData name="Dolev Halabi" userId="6d1f2b48-7b9a-4750-93ef-945382169efd" providerId="ADAL" clId="{E087893A-5AFC-4EC9-944F-9D1B824A31BF}" dt="2026-09-30T09:26:28.283" v="49" actId="20577"/>
        <pc:sldMkLst>
          <pc:docMk/>
          <pc:sldMk cId="1414486283" sldId="273"/>
        </pc:sldMkLst>
        <pc:spChg chg="mod">
          <ac:chgData name="Dolev Halabi" userId="6d1f2b48-7b9a-4750-93ef-945382169efd" providerId="ADAL" clId="{E087893A-5AFC-4EC9-944F-9D1B824A31BF}" dt="2026-09-30T09:26:28.283" v="49" actId="20577"/>
          <ac:spMkLst>
            <pc:docMk/>
            <pc:sldMk cId="1414486283" sldId="273"/>
            <ac:spMk id="32" creationId="{C4A246ED-8760-4141-B749-FD5C2AE867E8}"/>
          </ac:spMkLst>
        </pc:spChg>
      </pc:sldChg>
      <pc:sldChg chg="addSp delSp modSp mod">
        <pc:chgData name="Dolev Halabi" userId="6d1f2b48-7b9a-4750-93ef-945382169efd" providerId="ADAL" clId="{E087893A-5AFC-4EC9-944F-9D1B824A31BF}" dt="2026-09-30T09:29:46.497" v="110" actId="20577"/>
        <pc:sldMkLst>
          <pc:docMk/>
          <pc:sldMk cId="1430368219" sldId="274"/>
        </pc:sldMkLst>
        <pc:spChg chg="mod">
          <ac:chgData name="Dolev Halabi" userId="6d1f2b48-7b9a-4750-93ef-945382169efd" providerId="ADAL" clId="{E087893A-5AFC-4EC9-944F-9D1B824A31BF}" dt="2026-09-30T09:29:46.497" v="110" actId="20577"/>
          <ac:spMkLst>
            <pc:docMk/>
            <pc:sldMk cId="1430368219" sldId="274"/>
            <ac:spMk id="10" creationId="{2AC930C7-52C4-4E82-A67F-63D2122DA2E0}"/>
          </ac:spMkLst>
        </pc:spChg>
        <pc:picChg chg="add mod">
          <ac:chgData name="Dolev Halabi" userId="6d1f2b48-7b9a-4750-93ef-945382169efd" providerId="ADAL" clId="{E087893A-5AFC-4EC9-944F-9D1B824A31BF}" dt="2026-09-30T09:28:44.242" v="60" actId="14100"/>
          <ac:picMkLst>
            <pc:docMk/>
            <pc:sldMk cId="1430368219" sldId="274"/>
            <ac:picMk id="12" creationId="{EEDD636F-1A3E-005A-5195-1A4DFF4D7BEB}"/>
          </ac:picMkLst>
        </pc:picChg>
        <pc:picChg chg="del mod">
          <ac:chgData name="Dolev Halabi" userId="6d1f2b48-7b9a-4750-93ef-945382169efd" providerId="ADAL" clId="{E087893A-5AFC-4EC9-944F-9D1B824A31BF}" dt="2026-09-30T09:29:04.348" v="62" actId="478"/>
          <ac:picMkLst>
            <pc:docMk/>
            <pc:sldMk cId="1430368219" sldId="274"/>
            <ac:picMk id="18" creationId="{00000000-0000-0000-0000-000000000000}"/>
          </ac:picMkLst>
        </pc:picChg>
      </pc:sldChg>
      <pc:sldChg chg="modSp mod">
        <pc:chgData name="Dolev Halabi" userId="6d1f2b48-7b9a-4750-93ef-945382169efd" providerId="ADAL" clId="{E087893A-5AFC-4EC9-944F-9D1B824A31BF}" dt="2026-09-30T09:30:56.689" v="111" actId="12"/>
        <pc:sldMkLst>
          <pc:docMk/>
          <pc:sldMk cId="1007006731" sldId="276"/>
        </pc:sldMkLst>
        <pc:spChg chg="mod">
          <ac:chgData name="Dolev Halabi" userId="6d1f2b48-7b9a-4750-93ef-945382169efd" providerId="ADAL" clId="{E087893A-5AFC-4EC9-944F-9D1B824A31BF}" dt="2026-09-30T09:30:56.689" v="111" actId="12"/>
          <ac:spMkLst>
            <pc:docMk/>
            <pc:sldMk cId="1007006731" sldId="276"/>
            <ac:spMk id="9" creationId="{2388DE48-9D10-49B1-88AB-E50BD2CABDEF}"/>
          </ac:spMkLst>
        </pc:spChg>
      </pc:sldChg>
      <pc:sldChg chg="addSp delSp modSp mod">
        <pc:chgData name="Dolev Halabi" userId="6d1f2b48-7b9a-4750-93ef-945382169efd" providerId="ADAL" clId="{E087893A-5AFC-4EC9-944F-9D1B824A31BF}" dt="2026-09-30T09:39:40.185" v="194" actId="207"/>
        <pc:sldMkLst>
          <pc:docMk/>
          <pc:sldMk cId="351438735" sldId="277"/>
        </pc:sldMkLst>
        <pc:spChg chg="mod">
          <ac:chgData name="Dolev Halabi" userId="6d1f2b48-7b9a-4750-93ef-945382169efd" providerId="ADAL" clId="{E087893A-5AFC-4EC9-944F-9D1B824A31BF}" dt="2026-09-30T09:39:40.185" v="194" actId="207"/>
          <ac:spMkLst>
            <pc:docMk/>
            <pc:sldMk cId="351438735" sldId="277"/>
            <ac:spMk id="12" creationId="{D83E06AE-2F3F-41FA-91BB-A4AEACD672E5}"/>
          </ac:spMkLst>
        </pc:spChg>
        <pc:picChg chg="add del mod">
          <ac:chgData name="Dolev Halabi" userId="6d1f2b48-7b9a-4750-93ef-945382169efd" providerId="ADAL" clId="{E087893A-5AFC-4EC9-944F-9D1B824A31BF}" dt="2026-09-30T09:35:55.032" v="120" actId="478"/>
          <ac:picMkLst>
            <pc:docMk/>
            <pc:sldMk cId="351438735" sldId="277"/>
            <ac:picMk id="14" creationId="{B515B542-93ED-AAFF-F62C-D4FAB4E10CA7}"/>
          </ac:picMkLst>
        </pc:picChg>
        <pc:picChg chg="add del mod">
          <ac:chgData name="Dolev Halabi" userId="6d1f2b48-7b9a-4750-93ef-945382169efd" providerId="ADAL" clId="{E087893A-5AFC-4EC9-944F-9D1B824A31BF}" dt="2026-09-30T09:35:50.923" v="119" actId="478"/>
          <ac:picMkLst>
            <pc:docMk/>
            <pc:sldMk cId="351438735" sldId="277"/>
            <ac:picMk id="16" creationId="{A0489081-5C19-2DBC-E6BA-EA94D5BBB701}"/>
          </ac:picMkLst>
        </pc:picChg>
        <pc:picChg chg="add mod">
          <ac:chgData name="Dolev Halabi" userId="6d1f2b48-7b9a-4750-93ef-945382169efd" providerId="ADAL" clId="{E087893A-5AFC-4EC9-944F-9D1B824A31BF}" dt="2026-09-30T09:36:17.568" v="124" actId="1076"/>
          <ac:picMkLst>
            <pc:docMk/>
            <pc:sldMk cId="351438735" sldId="277"/>
            <ac:picMk id="18" creationId="{4F4F0CE9-3EC4-AC1D-4641-36C1F04F51C9}"/>
          </ac:picMkLst>
        </pc:picChg>
        <pc:picChg chg="del mod">
          <ac:chgData name="Dolev Halabi" userId="6d1f2b48-7b9a-4750-93ef-945382169efd" providerId="ADAL" clId="{E087893A-5AFC-4EC9-944F-9D1B824A31BF}" dt="2026-09-30T09:35:22.822" v="113" actId="478"/>
          <ac:picMkLst>
            <pc:docMk/>
            <pc:sldMk cId="351438735" sldId="277"/>
            <ac:picMk id="19" creationId="{00000000-0000-0000-0000-000000000000}"/>
          </ac:picMkLst>
        </pc:picChg>
      </pc:sldChg>
      <pc:sldChg chg="modSp mod">
        <pc:chgData name="Dolev Halabi" userId="6d1f2b48-7b9a-4750-93ef-945382169efd" providerId="ADAL" clId="{E087893A-5AFC-4EC9-944F-9D1B824A31BF}" dt="2026-09-30T09:40:47.295" v="196" actId="1076"/>
        <pc:sldMkLst>
          <pc:docMk/>
          <pc:sldMk cId="519083229" sldId="279"/>
        </pc:sldMkLst>
        <pc:picChg chg="mod">
          <ac:chgData name="Dolev Halabi" userId="6d1f2b48-7b9a-4750-93ef-945382169efd" providerId="ADAL" clId="{E087893A-5AFC-4EC9-944F-9D1B824A31BF}" dt="2026-09-30T09:40:47.295" v="196" actId="1076"/>
          <ac:picMkLst>
            <pc:docMk/>
            <pc:sldMk cId="519083229" sldId="279"/>
            <ac:picMk id="24" creationId="{00000000-0000-0000-0000-000000000000}"/>
          </ac:picMkLst>
        </pc:picChg>
      </pc:sldChg>
      <pc:sldChg chg="addSp delSp modSp mod">
        <pc:chgData name="Dolev Halabi" userId="6d1f2b48-7b9a-4750-93ef-945382169efd" providerId="ADAL" clId="{E087893A-5AFC-4EC9-944F-9D1B824A31BF}" dt="2026-09-30T09:42:26.982" v="216" actId="1076"/>
        <pc:sldMkLst>
          <pc:docMk/>
          <pc:sldMk cId="1344972801" sldId="282"/>
        </pc:sldMkLst>
        <pc:spChg chg="add del">
          <ac:chgData name="Dolev Halabi" userId="6d1f2b48-7b9a-4750-93ef-945382169efd" providerId="ADAL" clId="{E087893A-5AFC-4EC9-944F-9D1B824A31BF}" dt="2026-09-30T09:42:07.972" v="210" actId="478"/>
          <ac:spMkLst>
            <pc:docMk/>
            <pc:sldMk cId="1344972801" sldId="282"/>
            <ac:spMk id="10" creationId="{00000000-0000-0000-0000-000000000000}"/>
          </ac:spMkLst>
        </pc:spChg>
        <pc:spChg chg="del">
          <ac:chgData name="Dolev Halabi" userId="6d1f2b48-7b9a-4750-93ef-945382169efd" providerId="ADAL" clId="{E087893A-5AFC-4EC9-944F-9D1B824A31BF}" dt="2026-09-30T09:41:54.583" v="201" actId="478"/>
          <ac:spMkLst>
            <pc:docMk/>
            <pc:sldMk cId="1344972801" sldId="282"/>
            <ac:spMk id="11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09:42:26.982" v="216" actId="1076"/>
          <ac:spMkLst>
            <pc:docMk/>
            <pc:sldMk cId="1344972801" sldId="282"/>
            <ac:spMk id="12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09:41:33.532" v="200" actId="1076"/>
          <ac:spMkLst>
            <pc:docMk/>
            <pc:sldMk cId="1344972801" sldId="282"/>
            <ac:spMk id="16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09:42:04.344" v="208" actId="1076"/>
          <ac:spMkLst>
            <pc:docMk/>
            <pc:sldMk cId="1344972801" sldId="282"/>
            <ac:spMk id="18" creationId="{00000000-0000-0000-0000-000000000000}"/>
          </ac:spMkLst>
        </pc:spChg>
        <pc:spChg chg="del">
          <ac:chgData name="Dolev Halabi" userId="6d1f2b48-7b9a-4750-93ef-945382169efd" providerId="ADAL" clId="{E087893A-5AFC-4EC9-944F-9D1B824A31BF}" dt="2026-09-30T09:42:12.908" v="214" actId="478"/>
          <ac:spMkLst>
            <pc:docMk/>
            <pc:sldMk cId="1344972801" sldId="282"/>
            <ac:spMk id="19" creationId="{00000000-0000-0000-0000-000000000000}"/>
          </ac:spMkLst>
        </pc:spChg>
        <pc:spChg chg="del mod">
          <ac:chgData name="Dolev Halabi" userId="6d1f2b48-7b9a-4750-93ef-945382169efd" providerId="ADAL" clId="{E087893A-5AFC-4EC9-944F-9D1B824A31BF}" dt="2026-09-30T09:42:11.415" v="213" actId="478"/>
          <ac:spMkLst>
            <pc:docMk/>
            <pc:sldMk cId="1344972801" sldId="282"/>
            <ac:spMk id="20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09:42:20.409" v="215" actId="1076"/>
          <ac:spMkLst>
            <pc:docMk/>
            <pc:sldMk cId="1344972801" sldId="282"/>
            <ac:spMk id="21" creationId="{00000000-0000-0000-0000-000000000000}"/>
          </ac:spMkLst>
        </pc:spChg>
        <pc:cxnChg chg="mod">
          <ac:chgData name="Dolev Halabi" userId="6d1f2b48-7b9a-4750-93ef-945382169efd" providerId="ADAL" clId="{E087893A-5AFC-4EC9-944F-9D1B824A31BF}" dt="2026-09-30T09:42:04.344" v="208" actId="1076"/>
          <ac:cxnSpMkLst>
            <pc:docMk/>
            <pc:sldMk cId="1344972801" sldId="282"/>
            <ac:cxnSpMk id="23" creationId="{00000000-0000-0000-0000-000000000000}"/>
          </ac:cxnSpMkLst>
        </pc:cxnChg>
      </pc:sldChg>
      <pc:sldChg chg="modSp mod">
        <pc:chgData name="Dolev Halabi" userId="6d1f2b48-7b9a-4750-93ef-945382169efd" providerId="ADAL" clId="{E087893A-5AFC-4EC9-944F-9D1B824A31BF}" dt="2026-09-30T09:45:46.979" v="218" actId="14100"/>
        <pc:sldMkLst>
          <pc:docMk/>
          <pc:sldMk cId="1239013248" sldId="283"/>
        </pc:sldMkLst>
        <pc:spChg chg="mod">
          <ac:chgData name="Dolev Halabi" userId="6d1f2b48-7b9a-4750-93ef-945382169efd" providerId="ADAL" clId="{E087893A-5AFC-4EC9-944F-9D1B824A31BF}" dt="2026-09-30T09:45:46.979" v="218" actId="14100"/>
          <ac:spMkLst>
            <pc:docMk/>
            <pc:sldMk cId="1239013248" sldId="283"/>
            <ac:spMk id="36" creationId="{00000000-0000-0000-0000-000000000000}"/>
          </ac:spMkLst>
        </pc:spChg>
      </pc:sldChg>
      <pc:sldChg chg="modSp mod">
        <pc:chgData name="Dolev Halabi" userId="6d1f2b48-7b9a-4750-93ef-945382169efd" providerId="ADAL" clId="{E087893A-5AFC-4EC9-944F-9D1B824A31BF}" dt="2026-09-30T09:48:47.754" v="222" actId="5793"/>
        <pc:sldMkLst>
          <pc:docMk/>
          <pc:sldMk cId="346372064" sldId="286"/>
        </pc:sldMkLst>
        <pc:spChg chg="mod">
          <ac:chgData name="Dolev Halabi" userId="6d1f2b48-7b9a-4750-93ef-945382169efd" providerId="ADAL" clId="{E087893A-5AFC-4EC9-944F-9D1B824A31BF}" dt="2026-09-30T09:48:47.754" v="222" actId="5793"/>
          <ac:spMkLst>
            <pc:docMk/>
            <pc:sldMk cId="346372064" sldId="286"/>
            <ac:spMk id="10" creationId="{F969908E-DD4F-4871-8087-2C3494538E28}"/>
          </ac:spMkLst>
        </pc:spChg>
      </pc:sldChg>
      <pc:sldChg chg="delSp modSp mod">
        <pc:chgData name="Dolev Halabi" userId="6d1f2b48-7b9a-4750-93ef-945382169efd" providerId="ADAL" clId="{E087893A-5AFC-4EC9-944F-9D1B824A31BF}" dt="2026-09-30T09:55:22.657" v="246" actId="108"/>
        <pc:sldMkLst>
          <pc:docMk/>
          <pc:sldMk cId="1559751073" sldId="288"/>
        </pc:sldMkLst>
        <pc:spChg chg="mod">
          <ac:chgData name="Dolev Halabi" userId="6d1f2b48-7b9a-4750-93ef-945382169efd" providerId="ADAL" clId="{E087893A-5AFC-4EC9-944F-9D1B824A31BF}" dt="2026-09-30T09:55:22.657" v="246" actId="108"/>
          <ac:spMkLst>
            <pc:docMk/>
            <pc:sldMk cId="1559751073" sldId="288"/>
            <ac:spMk id="30" creationId="{00000000-0000-0000-0000-000000000000}"/>
          </ac:spMkLst>
        </pc:spChg>
        <pc:spChg chg="del">
          <ac:chgData name="Dolev Halabi" userId="6d1f2b48-7b9a-4750-93ef-945382169efd" providerId="ADAL" clId="{E087893A-5AFC-4EC9-944F-9D1B824A31BF}" dt="2026-09-30T09:53:13.947" v="244" actId="478"/>
          <ac:spMkLst>
            <pc:docMk/>
            <pc:sldMk cId="1559751073" sldId="288"/>
            <ac:spMk id="38" creationId="{00000000-0000-0000-0000-000000000000}"/>
          </ac:spMkLst>
        </pc:spChg>
        <pc:spChg chg="del mod">
          <ac:chgData name="Dolev Halabi" userId="6d1f2b48-7b9a-4750-93ef-945382169efd" providerId="ADAL" clId="{E087893A-5AFC-4EC9-944F-9D1B824A31BF}" dt="2026-09-30T09:53:12.444" v="243" actId="478"/>
          <ac:spMkLst>
            <pc:docMk/>
            <pc:sldMk cId="1559751073" sldId="288"/>
            <ac:spMk id="39" creationId="{00000000-0000-0000-0000-000000000000}"/>
          </ac:spMkLst>
        </pc:spChg>
      </pc:sldChg>
      <pc:sldChg chg="modSp mod">
        <pc:chgData name="Dolev Halabi" userId="6d1f2b48-7b9a-4750-93ef-945382169efd" providerId="ADAL" clId="{E087893A-5AFC-4EC9-944F-9D1B824A31BF}" dt="2026-09-30T09:56:07.300" v="274" actId="5793"/>
        <pc:sldMkLst>
          <pc:docMk/>
          <pc:sldMk cId="1172496130" sldId="289"/>
        </pc:sldMkLst>
        <pc:spChg chg="mod">
          <ac:chgData name="Dolev Halabi" userId="6d1f2b48-7b9a-4750-93ef-945382169efd" providerId="ADAL" clId="{E087893A-5AFC-4EC9-944F-9D1B824A31BF}" dt="2026-09-30T09:56:07.300" v="274" actId="5793"/>
          <ac:spMkLst>
            <pc:docMk/>
            <pc:sldMk cId="1172496130" sldId="289"/>
            <ac:spMk id="9" creationId="{BCA4632D-35C2-4791-9715-CF97751E2D3B}"/>
          </ac:spMkLst>
        </pc:spChg>
      </pc:sldChg>
      <pc:sldChg chg="addSp delSp modSp mod">
        <pc:chgData name="Dolev Halabi" userId="6d1f2b48-7b9a-4750-93ef-945382169efd" providerId="ADAL" clId="{E087893A-5AFC-4EC9-944F-9D1B824A31BF}" dt="2026-09-30T09:58:25.014" v="286" actId="478"/>
        <pc:sldMkLst>
          <pc:docMk/>
          <pc:sldMk cId="893305687" sldId="290"/>
        </pc:sldMkLst>
        <pc:spChg chg="mod">
          <ac:chgData name="Dolev Halabi" userId="6d1f2b48-7b9a-4750-93ef-945382169efd" providerId="ADAL" clId="{E087893A-5AFC-4EC9-944F-9D1B824A31BF}" dt="2026-09-30T09:56:47.489" v="276" actId="12"/>
          <ac:spMkLst>
            <pc:docMk/>
            <pc:sldMk cId="893305687" sldId="290"/>
            <ac:spMk id="10" creationId="{69CA28E3-F45D-4544-A6BC-F7C18B1465F5}"/>
          </ac:spMkLst>
        </pc:spChg>
        <pc:picChg chg="add mod">
          <ac:chgData name="Dolev Halabi" userId="6d1f2b48-7b9a-4750-93ef-945382169efd" providerId="ADAL" clId="{E087893A-5AFC-4EC9-944F-9D1B824A31BF}" dt="2026-09-30T09:57:43.897" v="284" actId="14100"/>
          <ac:picMkLst>
            <pc:docMk/>
            <pc:sldMk cId="893305687" sldId="290"/>
            <ac:picMk id="12" creationId="{0C878E42-E7E3-4FF3-DF28-F7FAA94B7CAA}"/>
          </ac:picMkLst>
        </pc:picChg>
        <pc:picChg chg="del mod">
          <ac:chgData name="Dolev Halabi" userId="6d1f2b48-7b9a-4750-93ef-945382169efd" providerId="ADAL" clId="{E087893A-5AFC-4EC9-944F-9D1B824A31BF}" dt="2026-09-30T09:58:25.014" v="286" actId="478"/>
          <ac:picMkLst>
            <pc:docMk/>
            <pc:sldMk cId="893305687" sldId="290"/>
            <ac:picMk id="18" creationId="{00000000-0000-0000-0000-000000000000}"/>
          </ac:picMkLst>
        </pc:picChg>
      </pc:sldChg>
      <pc:sldChg chg="modSp mod">
        <pc:chgData name="Dolev Halabi" userId="6d1f2b48-7b9a-4750-93ef-945382169efd" providerId="ADAL" clId="{E087893A-5AFC-4EC9-944F-9D1B824A31BF}" dt="2026-09-30T10:01:35.392" v="292" actId="20577"/>
        <pc:sldMkLst>
          <pc:docMk/>
          <pc:sldMk cId="154151993" sldId="292"/>
        </pc:sldMkLst>
        <pc:spChg chg="mod">
          <ac:chgData name="Dolev Halabi" userId="6d1f2b48-7b9a-4750-93ef-945382169efd" providerId="ADAL" clId="{E087893A-5AFC-4EC9-944F-9D1B824A31BF}" dt="2026-09-30T10:01:35.392" v="292" actId="20577"/>
          <ac:spMkLst>
            <pc:docMk/>
            <pc:sldMk cId="154151993" sldId="292"/>
            <ac:spMk id="8" creationId="{2023D4B2-4E21-45F7-801D-076BC76EBA2A}"/>
          </ac:spMkLst>
        </pc:spChg>
        <pc:spChg chg="mod">
          <ac:chgData name="Dolev Halabi" userId="6d1f2b48-7b9a-4750-93ef-945382169efd" providerId="ADAL" clId="{E087893A-5AFC-4EC9-944F-9D1B824A31BF}" dt="2026-09-30T09:59:25.333" v="290" actId="12"/>
          <ac:spMkLst>
            <pc:docMk/>
            <pc:sldMk cId="154151993" sldId="292"/>
            <ac:spMk id="11" creationId="{3DF0B964-CE92-46CD-82E9-D5F3B185227E}"/>
          </ac:spMkLst>
        </pc:spChg>
      </pc:sldChg>
      <pc:sldChg chg="modSp mod">
        <pc:chgData name="Dolev Halabi" userId="6d1f2b48-7b9a-4750-93ef-945382169efd" providerId="ADAL" clId="{E087893A-5AFC-4EC9-944F-9D1B824A31BF}" dt="2026-09-30T10:05:00.670" v="303" actId="20577"/>
        <pc:sldMkLst>
          <pc:docMk/>
          <pc:sldMk cId="1783328390" sldId="293"/>
        </pc:sldMkLst>
        <pc:spChg chg="mod">
          <ac:chgData name="Dolev Halabi" userId="6d1f2b48-7b9a-4750-93ef-945382169efd" providerId="ADAL" clId="{E087893A-5AFC-4EC9-944F-9D1B824A31BF}" dt="2026-09-30T10:05:00.670" v="303" actId="20577"/>
          <ac:spMkLst>
            <pc:docMk/>
            <pc:sldMk cId="1783328390" sldId="293"/>
            <ac:spMk id="12" creationId="{91C1FEB0-3F87-41DB-90F7-A0727BDE8E98}"/>
          </ac:spMkLst>
        </pc:spChg>
      </pc:sldChg>
      <pc:sldChg chg="delSp modSp mod">
        <pc:chgData name="Dolev Halabi" userId="6d1f2b48-7b9a-4750-93ef-945382169efd" providerId="ADAL" clId="{E087893A-5AFC-4EC9-944F-9D1B824A31BF}" dt="2026-09-30T10:08:00.675" v="331" actId="478"/>
        <pc:sldMkLst>
          <pc:docMk/>
          <pc:sldMk cId="1453419371" sldId="294"/>
        </pc:sldMkLst>
        <pc:spChg chg="mod">
          <ac:chgData name="Dolev Halabi" userId="6d1f2b48-7b9a-4750-93ef-945382169efd" providerId="ADAL" clId="{E087893A-5AFC-4EC9-944F-9D1B824A31BF}" dt="2026-09-30T10:06:38.543" v="329" actId="20577"/>
          <ac:spMkLst>
            <pc:docMk/>
            <pc:sldMk cId="1453419371" sldId="294"/>
            <ac:spMk id="14" creationId="{00000000-0000-0000-0000-000000000000}"/>
          </ac:spMkLst>
        </pc:spChg>
        <pc:spChg chg="del">
          <ac:chgData name="Dolev Halabi" userId="6d1f2b48-7b9a-4750-93ef-945382169efd" providerId="ADAL" clId="{E087893A-5AFC-4EC9-944F-9D1B824A31BF}" dt="2026-09-30T10:08:00.675" v="331" actId="478"/>
          <ac:spMkLst>
            <pc:docMk/>
            <pc:sldMk cId="1453419371" sldId="294"/>
            <ac:spMk id="30" creationId="{00000000-0000-0000-0000-000000000000}"/>
          </ac:spMkLst>
        </pc:spChg>
        <pc:spChg chg="del">
          <ac:chgData name="Dolev Halabi" userId="6d1f2b48-7b9a-4750-93ef-945382169efd" providerId="ADAL" clId="{E087893A-5AFC-4EC9-944F-9D1B824A31BF}" dt="2026-09-30T10:07:59.687" v="330" actId="478"/>
          <ac:spMkLst>
            <pc:docMk/>
            <pc:sldMk cId="1453419371" sldId="294"/>
            <ac:spMk id="31" creationId="{00000000-0000-0000-0000-000000000000}"/>
          </ac:spMkLst>
        </pc:spChg>
      </pc:sldChg>
      <pc:sldChg chg="modSp mod">
        <pc:chgData name="Dolev Halabi" userId="6d1f2b48-7b9a-4750-93ef-945382169efd" providerId="ADAL" clId="{E087893A-5AFC-4EC9-944F-9D1B824A31BF}" dt="2026-09-30T10:12:06.418" v="357" actId="20577"/>
        <pc:sldMkLst>
          <pc:docMk/>
          <pc:sldMk cId="200899182" sldId="295"/>
        </pc:sldMkLst>
        <pc:spChg chg="mod">
          <ac:chgData name="Dolev Halabi" userId="6d1f2b48-7b9a-4750-93ef-945382169efd" providerId="ADAL" clId="{E087893A-5AFC-4EC9-944F-9D1B824A31BF}" dt="2026-09-30T10:12:06.418" v="357" actId="20577"/>
          <ac:spMkLst>
            <pc:docMk/>
            <pc:sldMk cId="200899182" sldId="295"/>
            <ac:spMk id="11" creationId="{A9145569-7B4E-45F5-9649-726AF958B8E1}"/>
          </ac:spMkLst>
        </pc:spChg>
      </pc:sldChg>
      <pc:sldChg chg="modSp mod">
        <pc:chgData name="Dolev Halabi" userId="6d1f2b48-7b9a-4750-93ef-945382169efd" providerId="ADAL" clId="{E087893A-5AFC-4EC9-944F-9D1B824A31BF}" dt="2026-09-30T10:14:32.069" v="362" actId="20577"/>
        <pc:sldMkLst>
          <pc:docMk/>
          <pc:sldMk cId="137331626" sldId="296"/>
        </pc:sldMkLst>
        <pc:spChg chg="mod">
          <ac:chgData name="Dolev Halabi" userId="6d1f2b48-7b9a-4750-93ef-945382169efd" providerId="ADAL" clId="{E087893A-5AFC-4EC9-944F-9D1B824A31BF}" dt="2026-09-30T10:12:44.061" v="358" actId="12"/>
          <ac:spMkLst>
            <pc:docMk/>
            <pc:sldMk cId="137331626" sldId="296"/>
            <ac:spMk id="9" creationId="{8FEAB975-6145-40C8-8AD8-E730E233C4DC}"/>
          </ac:spMkLst>
        </pc:spChg>
        <pc:spChg chg="mod">
          <ac:chgData name="Dolev Halabi" userId="6d1f2b48-7b9a-4750-93ef-945382169efd" providerId="ADAL" clId="{E087893A-5AFC-4EC9-944F-9D1B824A31BF}" dt="2026-09-30T10:14:32.069" v="362" actId="20577"/>
          <ac:spMkLst>
            <pc:docMk/>
            <pc:sldMk cId="137331626" sldId="296"/>
            <ac:spMk id="10" creationId="{319368B3-0682-4D74-B6A9-636D66554E61}"/>
          </ac:spMkLst>
        </pc:spChg>
        <pc:spChg chg="mod">
          <ac:chgData name="Dolev Halabi" userId="6d1f2b48-7b9a-4750-93ef-945382169efd" providerId="ADAL" clId="{E087893A-5AFC-4EC9-944F-9D1B824A31BF}" dt="2026-09-30T10:14:22.712" v="361" actId="20577"/>
          <ac:spMkLst>
            <pc:docMk/>
            <pc:sldMk cId="137331626" sldId="296"/>
            <ac:spMk id="11" creationId="{3414B8D4-FFB8-4149-82FD-8377EE006D93}"/>
          </ac:spMkLst>
        </pc:spChg>
      </pc:sldChg>
      <pc:sldChg chg="modSp mod">
        <pc:chgData name="Dolev Halabi" userId="6d1f2b48-7b9a-4750-93ef-945382169efd" providerId="ADAL" clId="{E087893A-5AFC-4EC9-944F-9D1B824A31BF}" dt="2026-09-30T10:15:42.577" v="364" actId="20577"/>
        <pc:sldMkLst>
          <pc:docMk/>
          <pc:sldMk cId="1775894227" sldId="297"/>
        </pc:sldMkLst>
        <pc:spChg chg="mod">
          <ac:chgData name="Dolev Halabi" userId="6d1f2b48-7b9a-4750-93ef-945382169efd" providerId="ADAL" clId="{E087893A-5AFC-4EC9-944F-9D1B824A31BF}" dt="2026-09-30T10:15:42.577" v="364" actId="20577"/>
          <ac:spMkLst>
            <pc:docMk/>
            <pc:sldMk cId="1775894227" sldId="297"/>
            <ac:spMk id="17" creationId="{00000000-0000-0000-0000-000000000000}"/>
          </ac:spMkLst>
        </pc:spChg>
      </pc:sldChg>
      <pc:sldChg chg="modSp mod">
        <pc:chgData name="Dolev Halabi" userId="6d1f2b48-7b9a-4750-93ef-945382169efd" providerId="ADAL" clId="{E087893A-5AFC-4EC9-944F-9D1B824A31BF}" dt="2026-09-30T10:05:47.306" v="325" actId="20577"/>
        <pc:sldMkLst>
          <pc:docMk/>
          <pc:sldMk cId="0" sldId="304"/>
        </pc:sldMkLst>
        <pc:spChg chg="mod">
          <ac:chgData name="Dolev Halabi" userId="6d1f2b48-7b9a-4750-93ef-945382169efd" providerId="ADAL" clId="{E087893A-5AFC-4EC9-944F-9D1B824A31BF}" dt="2026-09-30T10:05:47.306" v="325" actId="20577"/>
          <ac:spMkLst>
            <pc:docMk/>
            <pc:sldMk cId="0" sldId="304"/>
            <ac:spMk id="25" creationId="{00000000-0000-0000-0000-000000000000}"/>
          </ac:spMkLst>
        </pc:spChg>
      </pc:sldChg>
      <pc:sldChg chg="modSp mod">
        <pc:chgData name="Dolev Halabi" userId="6d1f2b48-7b9a-4750-93ef-945382169efd" providerId="ADAL" clId="{E087893A-5AFC-4EC9-944F-9D1B824A31BF}" dt="2026-09-30T10:10:57.522" v="352" actId="20577"/>
        <pc:sldMkLst>
          <pc:docMk/>
          <pc:sldMk cId="0" sldId="306"/>
        </pc:sldMkLst>
        <pc:spChg chg="mod">
          <ac:chgData name="Dolev Halabi" userId="6d1f2b48-7b9a-4750-93ef-945382169efd" providerId="ADAL" clId="{E087893A-5AFC-4EC9-944F-9D1B824A31BF}" dt="2026-09-30T10:08:28.569" v="332" actId="20577"/>
          <ac:spMkLst>
            <pc:docMk/>
            <pc:sldMk cId="0" sldId="306"/>
            <ac:spMk id="11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9:33.572" v="340" actId="1076"/>
          <ac:spMkLst>
            <pc:docMk/>
            <pc:sldMk cId="0" sldId="306"/>
            <ac:spMk id="12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8:30.018" v="333" actId="20577"/>
          <ac:spMkLst>
            <pc:docMk/>
            <pc:sldMk cId="0" sldId="306"/>
            <ac:spMk id="15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9:33.572" v="340" actId="1076"/>
          <ac:spMkLst>
            <pc:docMk/>
            <pc:sldMk cId="0" sldId="306"/>
            <ac:spMk id="16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8:56.292" v="336" actId="20577"/>
          <ac:spMkLst>
            <pc:docMk/>
            <pc:sldMk cId="0" sldId="306"/>
            <ac:spMk id="19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9:33.572" v="340" actId="1076"/>
          <ac:spMkLst>
            <pc:docMk/>
            <pc:sldMk cId="0" sldId="306"/>
            <ac:spMk id="20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8:58.401" v="337" actId="20577"/>
          <ac:spMkLst>
            <pc:docMk/>
            <pc:sldMk cId="0" sldId="306"/>
            <ac:spMk id="23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9:33.572" v="340" actId="1076"/>
          <ac:spMkLst>
            <pc:docMk/>
            <pc:sldMk cId="0" sldId="306"/>
            <ac:spMk id="24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10:57.522" v="352" actId="20577"/>
          <ac:spMkLst>
            <pc:docMk/>
            <pc:sldMk cId="0" sldId="306"/>
            <ac:spMk id="27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9:58.323" v="342" actId="14100"/>
          <ac:spMkLst>
            <pc:docMk/>
            <pc:sldMk cId="0" sldId="306"/>
            <ac:spMk id="31" creationId="{00000000-0000-0000-0000-000000000000}"/>
          </ac:spMkLst>
        </pc:spChg>
        <pc:spChg chg="mod">
          <ac:chgData name="Dolev Halabi" userId="6d1f2b48-7b9a-4750-93ef-945382169efd" providerId="ADAL" clId="{E087893A-5AFC-4EC9-944F-9D1B824A31BF}" dt="2026-09-30T10:09:48.848" v="341" actId="1076"/>
          <ac:spMkLst>
            <pc:docMk/>
            <pc:sldMk cId="0" sldId="306"/>
            <ac:spMk id="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Smart Parking as an end-to-end platform for drivers and parking managers. Source: Smart Parking repository and SmartParkingGDD.docx.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details supplied by the project team. Advisor: Netanel Ben Hamo.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establish the complete value proposition before the detailed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statement derived from the project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project differentiates itself through aggregation, real-time data and an end-to-end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are based on the current implementation and original GDD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Important: the system does not use ADMIN and USER roles. Manager access is scoped by authorizedCities.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 capabilities implemented in the client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Manager functions in the authenticated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Narrative flow: discovery, live parking session, payment and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Management permissions are constrained to the user's authorizedCities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captured after signing in to the current local production build. Credentials are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city view exposes management actions only for lots inside the selected authorized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manager can update parking lot identity and tariff rules without leaving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manager can inspect current parking sessions and search by license 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Authorized management mode opens the parking layout without the public navigation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screenshots show read-only inspection of the current controls. No parking data was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 public and authenticated screens in the React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captured from the local production build of the current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Browser Geolocation and Haversine distance are used to produce nearby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captured from the current all-lots page with live server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parking lot view combines live operational data with driver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specialized maps use a shared ParkingMapLayout component with per-lot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aerial image plus screenshot of the current image-based Mediatheque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aerial image plus screenshot of the current circular Haifa Port layout. The entrance gap remains free of 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aerial image plus screenshot of the current triangular Beersheba Center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Lots without a custom image use </a:t>
            </a:r>
            <a:r>
              <a:rPr dirty="0" err="1"/>
              <a:t>DynamicParkingLayout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LoRa API and simulator feed space and session updates into the Express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Socket.IO uses shared client context plus server-side city and user rooms.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ParkingSession</a:t>
            </a:r>
            <a:r>
              <a:rPr dirty="0"/>
              <a:t> connects plate, lot, entry time, payment state and checkout expiration.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captured from the current payment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PayPal order creation and capture are coordinated by the backend payment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server supplies checkoutExpiresAt; the client renders a live countdown and can request an email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captured from the live price-list page. Data is loaded from the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captured from the current settings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 implementation: React SPA + modular Express server + MongoDB. The original GDD's microservice concept was simplified into a modular monolith.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client stack and primary modules from package.json and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server stack and services from package.json and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Mongoose models in the current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Controls implemented in the current server and client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Coverage is based on the original GDD and the current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Challenges encountered during implementation and the selected technical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three central outcomes: better driver decisions, real-time parking operations and a modular path for future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71682D3-61B9-409B-B865-E15F7996019F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CC9F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CC9F0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2D7A90-641F-4EDE-9D64-7B9F3F06FA27}"/>
              </a:ext>
            </a:extLst>
          </p:cNvPr>
          <p:cNvSpPr>
            <a:spLocks noGrp="1"/>
          </p:cNvSpPr>
          <p:nvPr/>
        </p:nvSpPr>
        <p:spPr>
          <a:xfrm>
            <a:off x="628650" y="1066800"/>
            <a:ext cx="62865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</a:t>
            </a:r>
          </a:p>
          <a:p>
            <a:pPr algn="l">
              <a:lnSpc>
                <a:spcPct val="90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9F5F87-6BDE-4B74-93A4-3396E4A00FD4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5810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C4D7E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4D7E6"/>
                </a:solidFill>
                <a:latin typeface="Arial"/>
                <a:ea typeface="Arial"/>
                <a:cs typeface="Arial"/>
              </a:rPr>
              <a:t>Real-time parking discovery, management and payment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1779FC-D96C-418F-9F59-31B9FFB1A47C}"/>
              </a:ext>
            </a:extLst>
          </p:cNvPr>
          <p:cNvSpPr>
            <a:spLocks noGrp="1"/>
          </p:cNvSpPr>
          <p:nvPr/>
        </p:nvSpPr>
        <p:spPr>
          <a:xfrm>
            <a:off x="666750" y="5410200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HIT • Faculty of 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0E1A56-9117-4F3F-A848-63385BC936C8}"/>
              </a:ext>
            </a:extLst>
          </p:cNvPr>
          <p:cNvSpPr>
            <a:spLocks noGrp="1"/>
          </p:cNvSpPr>
          <p:nvPr/>
        </p:nvSpPr>
        <p:spPr>
          <a:xfrm>
            <a:off x="666750" y="57721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A8BED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8BED2"/>
                </a:solidFill>
                <a:latin typeface="Arial"/>
                <a:ea typeface="Arial"/>
                <a:cs typeface="Arial"/>
              </a:rPr>
              <a:t>Advisor: Net</a:t>
            </a:r>
            <a:r>
              <a:rPr lang="en-US" sz="1200" b="0" i="0">
                <a:solidFill>
                  <a:srgbClr val="A8BED2"/>
                </a:solidFill>
                <a:latin typeface="Arial"/>
                <a:ea typeface="Arial"/>
                <a:cs typeface="Arial"/>
              </a:rPr>
              <a:t>h</a:t>
            </a:r>
            <a:r>
              <a:rPr sz="1200" b="0" i="0">
                <a:solidFill>
                  <a:srgbClr val="A8BED2"/>
                </a:solidFill>
                <a:latin typeface="Arial"/>
                <a:ea typeface="Arial"/>
                <a:cs typeface="Arial"/>
              </a:rPr>
              <a:t>anel Ben Hamo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13790C-741A-4EBB-957B-A34823F52907}"/>
              </a:ext>
            </a:extLst>
          </p:cNvPr>
          <p:cNvSpPr>
            <a:spLocks noGrp="1"/>
          </p:cNvSpPr>
          <p:nvPr/>
        </p:nvSpPr>
        <p:spPr>
          <a:xfrm>
            <a:off x="7353300" y="609600"/>
            <a:ext cx="4095750" cy="4095750"/>
          </a:xfrm>
          <a:prstGeom prst="ellipse">
            <a:avLst/>
          </a:prstGeom>
          <a:solidFill>
            <a:srgbClr val="0C3755"/>
          </a:solidFill>
          <a:ln w="19050">
            <a:solidFill>
              <a:srgbClr val="1C52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BC18C1-7E93-4936-9734-EB0F87CC8C51}"/>
              </a:ext>
            </a:extLst>
          </p:cNvPr>
          <p:cNvSpPr>
            <a:spLocks noGrp="1"/>
          </p:cNvSpPr>
          <p:nvPr/>
        </p:nvSpPr>
        <p:spPr>
          <a:xfrm>
            <a:off x="7810500" y="1066800"/>
            <a:ext cx="3181350" cy="3181350"/>
          </a:xfrm>
          <a:prstGeom prst="ellipse">
            <a:avLst/>
          </a:prstGeom>
          <a:solidFill>
            <a:srgbClr val="0A2C48"/>
          </a:solidFill>
          <a:ln w="28575">
            <a:solidFill>
              <a:srgbClr val="16B7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18384" y="1619250"/>
            <a:ext cx="984633" cy="2095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9D51C8-4A79-40C1-8602-A00AAF1A3FAF}"/>
              </a:ext>
            </a:extLst>
          </p:cNvPr>
          <p:cNvSpPr>
            <a:spLocks noGrp="1"/>
          </p:cNvSpPr>
          <p:nvPr/>
        </p:nvSpPr>
        <p:spPr>
          <a:xfrm>
            <a:off x="7429500" y="49720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4CC9F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C9F0"/>
                </a:solidFill>
                <a:latin typeface="Arial"/>
                <a:ea typeface="Arial"/>
                <a:cs typeface="Arial"/>
              </a:rPr>
              <a:t>FIND  •  PARK  •  PAY  •  EXIT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00F868-246F-45F9-949E-77C7955DEF17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A8BED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8BED2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15C161-A35C-4830-A807-F96F36BE9F0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4CC9F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524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D66190-9626-4C41-BFD1-03C2CFECEE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45FCB2-1441-4C45-A664-7E0C08E3992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90E9ED-E2EC-4037-8302-5CE4FA2F3FDC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Team &amp; Academic Context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0B6431A-0D29-4E81-BBDC-E43593DC2B73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3B46C-118E-46E0-96F2-28BB6A7C0852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7530C-C42E-4110-A3F2-DABD445E654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228DEE-A0E4-467F-870A-D9F2356226F2}"/>
              </a:ext>
            </a:extLst>
          </p:cNvPr>
          <p:cNvSpPr>
            <a:spLocks noGrp="1"/>
          </p:cNvSpPr>
          <p:nvPr/>
        </p:nvSpPr>
        <p:spPr>
          <a:xfrm>
            <a:off x="6781800" y="1543050"/>
            <a:ext cx="4676775" cy="415290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2205633"/>
            <a:ext cx="4524375" cy="2827734"/>
          </a:xfrm>
          <a:prstGeom prst="roundRect">
            <a:avLst>
              <a:gd name="adj" fmla="val 2857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75BF2B-675B-441C-8000-8A05507D366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B6D667-8EBA-4828-9C5B-A328F0E354E5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4762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200"/>
              </a:spcAft>
              <a:buNone/>
              <a:defRPr sz="17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333"/>
                </a:solidFill>
                <a:latin typeface="Arial"/>
                <a:ea typeface="Arial"/>
                <a:cs typeface="Arial"/>
              </a:rPr>
              <a:t>Dolev Halabi</a:t>
            </a:r>
          </a:p>
          <a:p>
            <a:pPr marL="254000" indent="-114300">
              <a:lnSpc>
                <a:spcPct val="108000"/>
              </a:lnSpc>
              <a:spcAft>
                <a:spcPts val="1200"/>
              </a:spcAft>
              <a:buNone/>
              <a:defRPr sz="17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333"/>
                </a:solidFill>
                <a:latin typeface="Arial"/>
                <a:ea typeface="Arial"/>
                <a:cs typeface="Arial"/>
              </a:rPr>
              <a:t>Lior Cohen</a:t>
            </a:r>
          </a:p>
          <a:p>
            <a:pPr marL="254000" indent="-114300">
              <a:lnSpc>
                <a:spcPct val="108000"/>
              </a:lnSpc>
              <a:spcAft>
                <a:spcPts val="1200"/>
              </a:spcAft>
              <a:buNone/>
              <a:defRPr sz="17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333"/>
                </a:solidFill>
                <a:latin typeface="Arial"/>
                <a:ea typeface="Arial"/>
                <a:cs typeface="Arial"/>
              </a:rPr>
              <a:t>Yashar Pashaiy</a:t>
            </a:r>
          </a:p>
          <a:p>
            <a:pPr marL="254000" indent="-114300">
              <a:lnSpc>
                <a:spcPct val="108000"/>
              </a:lnSpc>
              <a:spcAft>
                <a:spcPts val="1200"/>
              </a:spcAft>
              <a:buNone/>
              <a:defRPr sz="17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52333"/>
                </a:solidFill>
                <a:latin typeface="Arial"/>
                <a:ea typeface="Arial"/>
                <a:cs typeface="Arial"/>
              </a:rPr>
              <a:t>Matthew Tsiplakov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7B704A-29E1-4B20-9402-C86574E45580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Advisor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DA83F7-3778-4796-B1E2-34C48D7B8228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Netanel Ben Hamo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D5CC77-B934-4F88-A268-4C5E5A4A3F4E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HIT — Holon Institute of Technology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Faculty of Science • Center of Projects and Industrial Cooperation</a:t>
            </a:r>
          </a:p>
        </p:txBody>
      </p:sp>
    </p:spTree>
    <p:extLst>
      <p:ext uri="{BB962C8B-B14F-4D97-AF65-F5344CB8AC3E}">
        <p14:creationId xmlns:p14="http://schemas.microsoft.com/office/powerpoint/2010/main" val="1651801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206240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B7A5"/>
                </a:solidFill>
                <a:latin typeface="Arial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67512"/>
            <a:ext cx="10671048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71B2F"/>
                </a:solidFill>
                <a:latin typeface="Arial"/>
              </a:rPr>
              <a:t>Table of 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16736"/>
            <a:ext cx="11082528" cy="0"/>
          </a:xfrm>
          <a:prstGeom prst="line">
            <a:avLst/>
          </a:prstGeom>
          <a:ln w="10160">
            <a:solidFill>
              <a:srgbClr val="DD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3145536" cy="1920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C8D"/>
                </a:solidFill>
                <a:latin typeface="Arial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6536" y="6455664"/>
            <a:ext cx="493776" cy="1920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6BFF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700784"/>
            <a:ext cx="4800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" y="1700784"/>
            <a:ext cx="128016" cy="987552"/>
          </a:xfrm>
          <a:prstGeom prst="rect">
            <a:avLst/>
          </a:prstGeom>
          <a:solidFill>
            <a:srgbClr val="16B7A5"/>
          </a:solidFill>
          <a:ln>
            <a:solidFill>
              <a:srgbClr val="16B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1883664"/>
            <a:ext cx="56692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B7A5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1911096"/>
            <a:ext cx="3172968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71B2F"/>
                </a:solidFill>
                <a:latin typeface="Arial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83664"/>
            <a:ext cx="5486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E6E7E"/>
                </a:solidFill>
                <a:latin typeface="Arial"/>
              </a:rPr>
              <a:t>04–07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04288"/>
            <a:ext cx="34290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Arial"/>
              </a:rPr>
              <a:t>Section 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00784"/>
            <a:ext cx="4800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700784"/>
            <a:ext cx="128016" cy="987552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883664"/>
            <a:ext cx="56692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6B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1847088"/>
            <a:ext cx="3172968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1B2F"/>
                </a:solidFill>
                <a:latin typeface="Arial"/>
              </a:rPr>
              <a:t>Users &amp; Product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8128" y="1883664"/>
            <a:ext cx="5486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E6E7E"/>
                </a:solidFill>
                <a:latin typeface="Arial"/>
              </a:rPr>
              <a:t>08–19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304288"/>
            <a:ext cx="34290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Arial"/>
              </a:rPr>
              <a:t>Section 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2999232"/>
            <a:ext cx="4800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512" y="2999232"/>
            <a:ext cx="128016" cy="987552"/>
          </a:xfrm>
          <a:prstGeom prst="rect">
            <a:avLst/>
          </a:prstGeom>
          <a:solidFill>
            <a:srgbClr val="F7B32B"/>
          </a:solidFill>
          <a:ln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" y="3182112"/>
            <a:ext cx="56692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B32B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3127248"/>
            <a:ext cx="3172968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71B2F"/>
                </a:solidFill>
                <a:latin typeface="Arial"/>
              </a:rPr>
              <a:t>Driver Experience &amp; Parking 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82112"/>
            <a:ext cx="5486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E6E7E"/>
                </a:solidFill>
                <a:latin typeface="Arial"/>
              </a:rPr>
              <a:t>20–28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02736"/>
            <a:ext cx="34290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Arial"/>
              </a:rPr>
              <a:t>Section 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999232"/>
            <a:ext cx="4800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2999232"/>
            <a:ext cx="128016" cy="987552"/>
          </a:xfrm>
          <a:prstGeom prst="rect">
            <a:avLst/>
          </a:prstGeom>
          <a:solidFill>
            <a:srgbClr val="16B7A5"/>
          </a:solidFill>
          <a:ln>
            <a:solidFill>
              <a:srgbClr val="16B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182112"/>
            <a:ext cx="56692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B7A5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3145536"/>
            <a:ext cx="3172968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1B2F"/>
                </a:solidFill>
                <a:latin typeface="Arial"/>
              </a:rPr>
              <a:t>Real-Time, Payment &amp; 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3182112"/>
            <a:ext cx="5486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E6E7E"/>
                </a:solidFill>
                <a:latin typeface="Arial"/>
              </a:rPr>
              <a:t>29–36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3602736"/>
            <a:ext cx="34290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Arial"/>
              </a:rPr>
              <a:t>Section 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" y="4297680"/>
            <a:ext cx="4800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7512" y="4297680"/>
            <a:ext cx="128016" cy="987552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" y="4480560"/>
            <a:ext cx="56692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6BFF"/>
                </a:solidFill>
                <a:latin typeface="Arial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0744" y="4480560"/>
            <a:ext cx="3172968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71B2F"/>
                </a:solidFill>
                <a:latin typeface="Arial"/>
              </a:rPr>
              <a:t>Architecture, Models &amp;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480560"/>
            <a:ext cx="5486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E6E7E"/>
                </a:solidFill>
                <a:latin typeface="Arial"/>
              </a:rPr>
              <a:t>37–43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901184"/>
            <a:ext cx="34290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Arial"/>
              </a:rPr>
              <a:t>Section 05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297680"/>
            <a:ext cx="4800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72200" y="4297680"/>
            <a:ext cx="128016" cy="987552"/>
          </a:xfrm>
          <a:prstGeom prst="rect">
            <a:avLst/>
          </a:prstGeom>
          <a:solidFill>
            <a:srgbClr val="F7B32B"/>
          </a:solidFill>
          <a:ln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28232" y="4480560"/>
            <a:ext cx="56692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B32B"/>
                </a:solidFill>
                <a:latin typeface="Arial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4443984"/>
            <a:ext cx="288036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71B2F"/>
                </a:solidFill>
                <a:latin typeface="Arial"/>
              </a:rPr>
              <a:t>Coverage, Lessons &amp; Next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8128" y="4480560"/>
            <a:ext cx="5486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E6E7E"/>
                </a:solidFill>
                <a:latin typeface="Arial"/>
              </a:rPr>
              <a:t>44–47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4901184"/>
            <a:ext cx="34290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Arial"/>
              </a:rPr>
              <a:t>Section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Project in One Minute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42416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50" b="0">
                <a:solidFill>
                  <a:srgbClr val="5E7185"/>
                </a:solidFill>
                <a:latin typeface="Aptos"/>
              </a:rPr>
              <a:t>Smart Parking connects discovery, guidance, operations and payment in one journey.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788920"/>
            <a:ext cx="8869680" cy="0"/>
          </a:xfrm>
          <a:prstGeom prst="line">
            <a:avLst/>
          </a:prstGeom>
          <a:ln w="381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72768" y="2121408"/>
            <a:ext cx="420624" cy="420624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2139696"/>
            <a:ext cx="420624" cy="4023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926079"/>
            <a:ext cx="1371600" cy="152703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136392"/>
            <a:ext cx="1188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80" b="1">
                <a:solidFill>
                  <a:srgbClr val="0C2340"/>
                </a:solidFill>
                <a:latin typeface="Aptos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511296"/>
            <a:ext cx="1152144" cy="6583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0">
                <a:solidFill>
                  <a:srgbClr val="5E7185"/>
                </a:solidFill>
                <a:latin typeface="Aptos"/>
              </a:rPr>
              <a:t>Find parking by city or location and compare live availability.</a:t>
            </a:r>
          </a:p>
        </p:txBody>
      </p:sp>
      <p:sp>
        <p:nvSpPr>
          <p:cNvPr id="15" name="Oval 14"/>
          <p:cNvSpPr/>
          <p:nvPr/>
        </p:nvSpPr>
        <p:spPr>
          <a:xfrm>
            <a:off x="4178807" y="2121408"/>
            <a:ext cx="420624" cy="420624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78807" y="2139696"/>
            <a:ext cx="420624" cy="4023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926080"/>
            <a:ext cx="1371600" cy="152703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59" y="3136392"/>
            <a:ext cx="1188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80" b="1">
                <a:solidFill>
                  <a:srgbClr val="0C2340"/>
                </a:solidFill>
                <a:latin typeface="Aptos"/>
              </a:rPr>
              <a:t>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511296"/>
            <a:ext cx="1152144" cy="6583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0">
                <a:solidFill>
                  <a:srgbClr val="5E7185"/>
                </a:solidFill>
                <a:latin typeface="Aptos"/>
              </a:rPr>
              <a:t>Open a lot-level map and identify the exact available space.</a:t>
            </a:r>
          </a:p>
        </p:txBody>
      </p:sp>
      <p:sp>
        <p:nvSpPr>
          <p:cNvPr id="20" name="Oval 19"/>
          <p:cNvSpPr/>
          <p:nvPr/>
        </p:nvSpPr>
        <p:spPr>
          <a:xfrm>
            <a:off x="6784848" y="2121408"/>
            <a:ext cx="420624" cy="420624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2139696"/>
            <a:ext cx="420624" cy="4023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926079"/>
            <a:ext cx="1371600" cy="152704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136392"/>
            <a:ext cx="1188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80" b="1">
                <a:solidFill>
                  <a:srgbClr val="0C2340"/>
                </a:solidFill>
                <a:latin typeface="Aptos"/>
              </a:rPr>
              <a:t>OPERATE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511296"/>
            <a:ext cx="1152144" cy="6583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0" dirty="0">
                <a:solidFill>
                  <a:srgbClr val="5E7185"/>
                </a:solidFill>
                <a:latin typeface="Aptos"/>
              </a:rPr>
              <a:t>Give authorized managers control over lots, levels, spaces and prices.</a:t>
            </a:r>
          </a:p>
        </p:txBody>
      </p:sp>
      <p:sp>
        <p:nvSpPr>
          <p:cNvPr id="25" name="Oval 24"/>
          <p:cNvSpPr/>
          <p:nvPr/>
        </p:nvSpPr>
        <p:spPr>
          <a:xfrm>
            <a:off x="9390888" y="2121408"/>
            <a:ext cx="420624" cy="420624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90888" y="2139696"/>
            <a:ext cx="420624" cy="4023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926079"/>
            <a:ext cx="1371600" cy="15270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3136392"/>
            <a:ext cx="1188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80" b="1">
                <a:solidFill>
                  <a:srgbClr val="0C2340"/>
                </a:solidFill>
                <a:latin typeface="Aptos"/>
              </a:rPr>
              <a:t>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3511296"/>
            <a:ext cx="1152144" cy="6583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0">
                <a:solidFill>
                  <a:srgbClr val="5E7185"/>
                </a:solidFill>
                <a:latin typeface="Aptos"/>
              </a:rPr>
              <a:t>Check debt, pay with PayPal, receive a receipt and exit within 15 minutes.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983480"/>
            <a:ext cx="9875520" cy="603504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5157216"/>
            <a:ext cx="95097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One platform connects drivers, sensor data, parking operations and digital payment.</a:t>
            </a:r>
          </a:p>
        </p:txBody>
      </p:sp>
    </p:spTree>
    <p:extLst>
      <p:ext uri="{BB962C8B-B14F-4D97-AF65-F5344CB8AC3E}">
        <p14:creationId xmlns:p14="http://schemas.microsoft.com/office/powerpoint/2010/main" val="121975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82A3578-F71E-458C-AE69-9926AFAA5D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7A49D-3B56-46DC-B077-1CBFA9DA5EE0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101B6-3629-43E9-8896-9484CC4D86CF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36D480C-B8C8-4D3C-9CF6-08925DB785C5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3071C-9071-4CD6-8E0B-5E9A3848F1BA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54466-55A3-4502-88D5-6E74A96537D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E9008-161D-4D4F-8C1C-D6C1E709EEC1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7429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88220"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Drivers lose time before the parking process even begins.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C83CB7-257D-41CD-94A4-4B43D4F9EDE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E4585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E45858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96A4D1-763C-4BFE-BCC0-6D06A2DA1120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searching for an available space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AD9A4F-C25C-4600-80B1-E0C776610900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F7B32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7B32B"/>
                </a:solidFill>
                <a:latin typeface="Arial"/>
                <a:ea typeface="Arial"/>
                <a:cs typeface="Arial"/>
              </a:rPr>
              <a:t>FUEL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A7F0A1-21E2-41E4-BE68-52721B4EBADF}"/>
              </a:ext>
            </a:extLst>
          </p:cNvPr>
          <p:cNvSpPr>
            <a:spLocks noGrp="1"/>
          </p:cNvSpPr>
          <p:nvPr/>
        </p:nvSpPr>
        <p:spPr>
          <a:xfrm>
            <a:off x="3333750" y="3467100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consumed while circling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2F464C-0210-472B-8501-0EF72724D770}"/>
              </a:ext>
            </a:extLst>
          </p:cNvPr>
          <p:cNvSpPr>
            <a:spLocks noGrp="1"/>
          </p:cNvSpPr>
          <p:nvPr/>
        </p:nvSpPr>
        <p:spPr>
          <a:xfrm>
            <a:off x="6000750" y="285750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23FC85-1218-418D-B31C-E1712F0CC015}"/>
              </a:ext>
            </a:extLst>
          </p:cNvPr>
          <p:cNvSpPr>
            <a:spLocks noGrp="1"/>
          </p:cNvSpPr>
          <p:nvPr/>
        </p:nvSpPr>
        <p:spPr>
          <a:xfrm>
            <a:off x="6000750" y="346710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created near busy parking lots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FAE3CE-1E9E-4EE3-ADF9-E59544EEAD32}"/>
              </a:ext>
            </a:extLst>
          </p:cNvPr>
          <p:cNvSpPr>
            <a:spLocks noGrp="1"/>
          </p:cNvSpPr>
          <p:nvPr/>
        </p:nvSpPr>
        <p:spPr>
          <a:xfrm>
            <a:off x="8763000" y="1752600"/>
            <a:ext cx="2476500" cy="3429000"/>
          </a:xfrm>
          <a:prstGeom prst="roundRect">
            <a:avLst>
              <a:gd name="adj" fmla="val 3077"/>
            </a:avLst>
          </a:prstGeom>
          <a:solidFill>
            <a:srgbClr val="071B2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DCD2D1-F5BB-409F-8CD8-3C2B0279A000}"/>
              </a:ext>
            </a:extLst>
          </p:cNvPr>
          <p:cNvSpPr>
            <a:spLocks noGrp="1"/>
          </p:cNvSpPr>
          <p:nvPr/>
        </p:nvSpPr>
        <p:spPr>
          <a:xfrm>
            <a:off x="9001125" y="1866900"/>
            <a:ext cx="20002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8000"/>
              </a:lnSpc>
              <a:buNone/>
              <a:defRPr sz="9000" b="1" i="0">
                <a:solidFill>
                  <a:srgbClr val="4CC9F0"/>
                </a:solidFill>
                <a:latin typeface="Arial"/>
                <a:ea typeface="Arial"/>
                <a:cs typeface="Arial"/>
              </a:defRPr>
            </a:pPr>
            <a:r>
              <a:rPr sz="9000" b="1" i="0">
                <a:solidFill>
                  <a:srgbClr val="4CC9F0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18584-2C6B-4E9B-91E1-2FB1C7A0468A}"/>
              </a:ext>
            </a:extLst>
          </p:cNvPr>
          <p:cNvSpPr>
            <a:spLocks noGrp="1"/>
          </p:cNvSpPr>
          <p:nvPr/>
        </p:nvSpPr>
        <p:spPr>
          <a:xfrm>
            <a:off x="9048750" y="3695700"/>
            <a:ext cx="1905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is the nearest available space — right now?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50811-4427-4D9E-8963-0F71F282E604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7429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The user needs certainty at city, lot and individual-space level.</a:t>
            </a:r>
          </a:p>
        </p:txBody>
      </p:sp>
    </p:spTree>
    <p:extLst>
      <p:ext uri="{BB962C8B-B14F-4D97-AF65-F5344CB8AC3E}">
        <p14:creationId xmlns:p14="http://schemas.microsoft.com/office/powerpoint/2010/main" val="1025091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E565E9A-6D07-4D5A-9858-6A9E0C1E2E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B6D2D6-519F-4522-9185-33BA50A1421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MARKET GAP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95D71D-E010-4273-AE2E-027A5824ADD5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Why Existing Solutions Fall Short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1C0205B-4F20-4673-AA07-9793A2F75CD5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AEC5B8-E98E-468F-A166-3ECF484FEA43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9E613-0FFD-4460-A61E-6606AFBB877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6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B6E3471-A09C-4992-8A15-FE176E8A212B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0" cy="447675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37B780-5FAD-494D-BF6C-6C7BED0D971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What users commonly receive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0249D-C157-4F02-B108-04AEB28AA31A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4810125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Information for one parking lot at a time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Static or delayed availability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 generic destination — not the exact space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Separate discovery, navigation and payment flows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12655-9E73-4A9A-BD24-A53E96FB7E32}"/>
              </a:ext>
            </a:extLst>
          </p:cNvPr>
          <p:cNvSpPr>
            <a:spLocks noGrp="1"/>
          </p:cNvSpPr>
          <p:nvPr/>
        </p:nvSpPr>
        <p:spPr>
          <a:xfrm>
            <a:off x="6572250" y="163830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What Smart Parking adds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AA11E2-8976-437F-B433-3F7989893C49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476250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 unified multi-city parking platform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Live spot-level status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Visual layouts for specific parking sites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One journey from search through exit</a:t>
            </a:r>
          </a:p>
        </p:txBody>
      </p:sp>
    </p:spTree>
    <p:extLst>
      <p:ext uri="{BB962C8B-B14F-4D97-AF65-F5344CB8AC3E}">
        <p14:creationId xmlns:p14="http://schemas.microsoft.com/office/powerpoint/2010/main" val="1062400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Project 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Five objectives define what the project needs to achieve, while one design principle guides how it is built.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044700"/>
            <a:ext cx="3923030" cy="1704340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93792" y="2148840"/>
            <a:ext cx="178308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2176272"/>
            <a:ext cx="178308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1" dirty="0">
                <a:solidFill>
                  <a:srgbClr val="1DB5A8"/>
                </a:solidFill>
                <a:latin typeface="Aptos"/>
              </a:rPr>
              <a:t>DESIGN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568575"/>
            <a:ext cx="329184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ptos"/>
              </a:rPr>
              <a:t>Mobile first • Hebrew RTL • Accessible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177540"/>
            <a:ext cx="3200400" cy="4114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80" b="0" dirty="0">
                <a:solidFill>
                  <a:srgbClr val="FFFFFF"/>
                </a:solidFill>
                <a:latin typeface="Aptos"/>
              </a:rPr>
              <a:t>Modular enough to add and remove parking lots without rewriting the product.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331720"/>
            <a:ext cx="1920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4984" y="2432304"/>
            <a:ext cx="310896" cy="310896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" y="2450592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496311"/>
            <a:ext cx="12801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00" b="1" dirty="0">
                <a:solidFill>
                  <a:srgbClr val="0C2340"/>
                </a:solidFill>
                <a:latin typeface="Aptos"/>
              </a:rPr>
              <a:t>Aggregate multiple</a:t>
            </a:r>
          </a:p>
          <a:p>
            <a:pPr algn="ctr"/>
            <a:r>
              <a:rPr sz="1300" b="1" dirty="0">
                <a:solidFill>
                  <a:srgbClr val="0C2340"/>
                </a:solidFill>
                <a:latin typeface="Aptos"/>
              </a:rPr>
              <a:t>parking lots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77639"/>
            <a:ext cx="1920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4984" y="4078224"/>
            <a:ext cx="310896" cy="310896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" y="4096511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24527"/>
            <a:ext cx="12801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Expose live</a:t>
            </a:r>
          </a:p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availability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331720"/>
            <a:ext cx="1920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15984" y="2432304"/>
            <a:ext cx="310896" cy="310896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15984" y="2491739"/>
            <a:ext cx="310896" cy="21031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200" b="1" dirty="0">
                <a:solidFill>
                  <a:srgbClr val="FFFFFF"/>
                </a:solidFill>
                <a:latin typeface="Aptos"/>
              </a:rPr>
              <a:t>5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18320" y="2578608"/>
            <a:ext cx="12801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Guide to the</a:t>
            </a:r>
          </a:p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exact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977639"/>
            <a:ext cx="1920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15984" y="4078224"/>
            <a:ext cx="310896" cy="310896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15984" y="4096511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224527"/>
            <a:ext cx="12801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Support secure</a:t>
            </a:r>
          </a:p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709160"/>
            <a:ext cx="1920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626864" y="4809744"/>
            <a:ext cx="310896" cy="310896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26864" y="4860035"/>
            <a:ext cx="310896" cy="21031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>03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0" y="4956048"/>
            <a:ext cx="12801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Complete digital</a:t>
            </a:r>
          </a:p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payment</a:t>
            </a:r>
          </a:p>
        </p:txBody>
      </p:sp>
      <p:cxnSp>
        <p:nvCxnSpPr>
          <p:cNvPr id="34" name="Connector 33"/>
          <p:cNvCxnSpPr>
            <a:cxnSpLocks/>
            <a:stCxn id="14" idx="3"/>
            <a:endCxn id="9" idx="1"/>
          </p:cNvCxnSpPr>
          <p:nvPr/>
        </p:nvCxnSpPr>
        <p:spPr>
          <a:xfrm>
            <a:off x="2834640" y="2788920"/>
            <a:ext cx="1325880" cy="107950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  <a:stCxn id="18" idx="3"/>
          </p:cNvCxnSpPr>
          <p:nvPr/>
        </p:nvCxnSpPr>
        <p:spPr>
          <a:xfrm flipV="1">
            <a:off x="2834640" y="3562350"/>
            <a:ext cx="1325880" cy="872489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  <a:stCxn id="22" idx="1"/>
            <a:endCxn id="9" idx="3"/>
          </p:cNvCxnSpPr>
          <p:nvPr/>
        </p:nvCxnSpPr>
        <p:spPr>
          <a:xfrm flipH="1">
            <a:off x="8083550" y="2788920"/>
            <a:ext cx="831850" cy="107950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26" idx="1"/>
          </p:cNvCxnSpPr>
          <p:nvPr/>
        </p:nvCxnSpPr>
        <p:spPr>
          <a:xfrm flipH="1" flipV="1">
            <a:off x="7804150" y="3749040"/>
            <a:ext cx="1111250" cy="685799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30" idx="0"/>
            <a:endCxn id="9" idx="2"/>
          </p:cNvCxnSpPr>
          <p:nvPr/>
        </p:nvCxnSpPr>
        <p:spPr>
          <a:xfrm flipV="1">
            <a:off x="5486400" y="3749040"/>
            <a:ext cx="635635" cy="960120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51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7335DA8-291F-4105-BF88-34F3234BE3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52CC51-D7A4-40EE-BE4D-18DE9F73E2C0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E3BBEA-1DE2-42CF-B9E5-72D6514C3970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User Groups &amp; Permission Model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9A706B4-F82E-405E-ABF3-0FD41BE223DE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F54B7C-72E4-4E1B-88CC-C56E3BD302E6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4586E-29E8-4026-A477-F0E40E25D8F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8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73D3B3C-76E0-48DA-89E9-BBE546FB8432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0" cy="447675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11A9D2-6A7E-490A-82CE-960BB6278E0F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Public driver / visitor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0A8674-9C71-4B13-947F-6C0380D9EAAB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4810125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No account is required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Searches lots and views live availability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Navigates with Waze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Checks debt and pays by license plate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Receives an exit timer and email receipt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40021B-4E42-4873-9725-25A2D6041567}"/>
              </a:ext>
            </a:extLst>
          </p:cNvPr>
          <p:cNvSpPr>
            <a:spLocks noGrp="1"/>
          </p:cNvSpPr>
          <p:nvPr/>
        </p:nvSpPr>
        <p:spPr>
          <a:xfrm>
            <a:off x="6572250" y="163830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Authorized parking 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AF8372-7C87-4F67-B963-7C2E43F20884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476250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Signs in with a secure cookie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Sees only assigned cities and lots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Manages lots, levels, spaces and prices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Views active parked vehicles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Manages exempt license plates</a:t>
            </a:r>
          </a:p>
        </p:txBody>
      </p:sp>
    </p:spTree>
    <p:extLst>
      <p:ext uri="{BB962C8B-B14F-4D97-AF65-F5344CB8AC3E}">
        <p14:creationId xmlns:p14="http://schemas.microsoft.com/office/powerpoint/2010/main" val="14345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D529C1B-FA4C-4993-AA23-91A56A92A4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36E43B-2E7A-4314-A3F0-6D4DD54DABE2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PRODUCT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2B813-5E35-4D48-8909-72C6ABCE480D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Public Driver Capabilities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F22EBC-315E-43E1-979C-B1ADDD8FDC3B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CB2F09-69FF-4484-B28C-FCE318E18E22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0C00A0-1FCE-499B-AF69-2E3A74EAAF9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5F17A-D875-4ECB-A5D2-3F8A950D90D2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D454DA-8313-4218-A48A-EE3565970950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22955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Search by city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Nearby parking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All-lots map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Favorites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FB578-6E9A-4D71-A519-4E7A87D0D5E0}"/>
              </a:ext>
            </a:extLst>
          </p:cNvPr>
          <p:cNvSpPr>
            <a:spLocks noGrp="1"/>
          </p:cNvSpPr>
          <p:nvPr/>
        </p:nvSpPr>
        <p:spPr>
          <a:xfrm>
            <a:off x="3476625" y="1809750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PARKING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F8F48B-1F60-48FF-8105-D5FD66EB0FDA}"/>
              </a:ext>
            </a:extLst>
          </p:cNvPr>
          <p:cNvSpPr>
            <a:spLocks noGrp="1"/>
          </p:cNvSpPr>
          <p:nvPr/>
        </p:nvSpPr>
        <p:spPr>
          <a:xfrm>
            <a:off x="3514725" y="2324100"/>
            <a:ext cx="22955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Live availability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Levels and space numbers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Free / occupied / blocked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Waze navigation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9F8FC3-C76C-467E-AB6D-665EF669DF89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BB50BF-9517-453A-9DEA-4634018EE71B}"/>
              </a:ext>
            </a:extLst>
          </p:cNvPr>
          <p:cNvSpPr>
            <a:spLocks noGrp="1"/>
          </p:cNvSpPr>
          <p:nvPr/>
        </p:nvSpPr>
        <p:spPr>
          <a:xfrm>
            <a:off x="6362700" y="2324100"/>
            <a:ext cx="22955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Plate lookup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Live debt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PayPal checkout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Email receipt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2D21D5-543D-4462-9516-844AFFC690B9}"/>
              </a:ext>
            </a:extLst>
          </p:cNvPr>
          <p:cNvSpPr>
            <a:spLocks noGrp="1"/>
          </p:cNvSpPr>
          <p:nvPr/>
        </p:nvSpPr>
        <p:spPr>
          <a:xfrm>
            <a:off x="9172575" y="1809750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0541D-F031-434D-AE1C-C66A4CC0B282}"/>
              </a:ext>
            </a:extLst>
          </p:cNvPr>
          <p:cNvSpPr>
            <a:spLocks noGrp="1"/>
          </p:cNvSpPr>
          <p:nvPr/>
        </p:nvSpPr>
        <p:spPr>
          <a:xfrm>
            <a:off x="9210675" y="2324100"/>
            <a:ext cx="2295525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Price list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Exit countdown</a:t>
            </a:r>
          </a:p>
          <a:p>
            <a:pPr marL="2540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Accessibility settings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89DBDC4-ED09-4342-87CA-1204F0974850}"/>
              </a:ext>
            </a:extLst>
          </p:cNvPr>
          <p:cNvSpPr>
            <a:spLocks noGrp="1"/>
          </p:cNvSpPr>
          <p:nvPr/>
        </p:nvSpPr>
        <p:spPr>
          <a:xfrm>
            <a:off x="3476625" y="1752600"/>
            <a:ext cx="0" cy="361950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5320479-FA11-4BF7-B982-6F1F807AB247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0" cy="361950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28EC798-6707-402A-A9D4-93A0384C59C8}"/>
              </a:ext>
            </a:extLst>
          </p:cNvPr>
          <p:cNvSpPr>
            <a:spLocks noGrp="1"/>
          </p:cNvSpPr>
          <p:nvPr/>
        </p:nvSpPr>
        <p:spPr>
          <a:xfrm>
            <a:off x="9172575" y="1752600"/>
            <a:ext cx="0" cy="361950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2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Parking Manager Capabilities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The manager workflow is sequential, while management capabilities fall into two operational groups.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201168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50" b="1">
                <a:solidFill>
                  <a:srgbClr val="1DB5A8"/>
                </a:solidFill>
                <a:latin typeface="Aptos"/>
              </a:rPr>
              <a:t>MANAGER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2496312"/>
            <a:ext cx="347472" cy="347472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514600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8880"/>
            <a:ext cx="246888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50" b="1">
                <a:solidFill>
                  <a:srgbClr val="0C2340"/>
                </a:solidFill>
                <a:latin typeface="Aptos"/>
              </a:rPr>
              <a:t>Sign 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" y="2862072"/>
            <a:ext cx="0" cy="310896"/>
          </a:xfrm>
          <a:prstGeom prst="line">
            <a:avLst/>
          </a:prstGeom>
          <a:ln w="1905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86384" y="3209544"/>
            <a:ext cx="347472" cy="347472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227832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82112"/>
            <a:ext cx="246888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50" b="1">
                <a:solidFill>
                  <a:srgbClr val="0C2340"/>
                </a:solidFill>
                <a:latin typeface="Aptos"/>
              </a:rPr>
              <a:t>Choose an authorized city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3575304"/>
            <a:ext cx="0" cy="310896"/>
          </a:xfrm>
          <a:prstGeom prst="line">
            <a:avLst/>
          </a:prstGeom>
          <a:ln w="1905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86384" y="3922776"/>
            <a:ext cx="347472" cy="347472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941063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95344"/>
            <a:ext cx="246888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50" b="1">
                <a:solidFill>
                  <a:srgbClr val="0C2340"/>
                </a:solidFill>
                <a:latin typeface="Aptos"/>
              </a:rPr>
              <a:t>Open a managed lot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4288536"/>
            <a:ext cx="0" cy="310896"/>
          </a:xfrm>
          <a:prstGeom prst="line">
            <a:avLst/>
          </a:prstGeom>
          <a:ln w="1905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6384" y="4636008"/>
            <a:ext cx="347472" cy="347472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4654296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08576"/>
            <a:ext cx="246888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50" b="1">
                <a:solidFill>
                  <a:srgbClr val="0C2340"/>
                </a:solidFill>
                <a:latin typeface="Aptos"/>
              </a:rPr>
              <a:t>Edit structure and pricing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" y="5001768"/>
            <a:ext cx="0" cy="310896"/>
          </a:xfrm>
          <a:prstGeom prst="line">
            <a:avLst/>
          </a:prstGeom>
          <a:ln w="1905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6384" y="5349240"/>
            <a:ext cx="347472" cy="347472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5367528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21808"/>
            <a:ext cx="246888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50" b="1">
                <a:solidFill>
                  <a:srgbClr val="0C2340"/>
                </a:solidFill>
                <a:latin typeface="Aptos"/>
              </a:rPr>
              <a:t>Monitor vehicles and exemptions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103120"/>
            <a:ext cx="3246120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26280" y="2286000"/>
            <a:ext cx="114300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2313432"/>
            <a:ext cx="114300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1">
                <a:solidFill>
                  <a:srgbClr val="1DB5A8"/>
                </a:solidFill>
                <a:latin typeface="Aptos"/>
              </a:rPr>
              <a:t>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697480"/>
            <a:ext cx="26517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Parking 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072384"/>
            <a:ext cx="2651760" cy="63504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 dirty="0">
                <a:solidFill>
                  <a:srgbClr val="5E7185"/>
                </a:solidFill>
                <a:latin typeface="Aptos"/>
              </a:rPr>
              <a:t>• Create</a:t>
            </a:r>
            <a:r>
              <a:rPr lang="en-US" sz="1320" dirty="0">
                <a:solidFill>
                  <a:srgbClr val="5E7185"/>
                </a:solidFill>
                <a:latin typeface="Aptos"/>
              </a:rPr>
              <a:t>, </a:t>
            </a:r>
            <a:r>
              <a:rPr lang="en-US" sz="1320" b="0" dirty="0">
                <a:solidFill>
                  <a:srgbClr val="5E7185"/>
                </a:solidFill>
                <a:latin typeface="Aptos"/>
              </a:rPr>
              <a:t>edit</a:t>
            </a:r>
            <a:r>
              <a:rPr sz="1320" b="0" dirty="0">
                <a:solidFill>
                  <a:srgbClr val="5E7185"/>
                </a:solidFill>
                <a:latin typeface="Aptos"/>
              </a:rPr>
              <a:t> or delete a lot</a:t>
            </a:r>
          </a:p>
          <a:p>
            <a:pPr algn="l"/>
            <a:r>
              <a:rPr sz="1320" b="0" dirty="0">
                <a:solidFill>
                  <a:srgbClr val="5E7185"/>
                </a:solidFill>
                <a:latin typeface="Aptos"/>
              </a:rPr>
              <a:t>• Add or remove levels</a:t>
            </a:r>
          </a:p>
          <a:p>
            <a:pPr algn="l"/>
            <a:r>
              <a:rPr sz="1320" b="0" dirty="0">
                <a:solidFill>
                  <a:srgbClr val="5E7185"/>
                </a:solidFill>
                <a:latin typeface="Aptos"/>
              </a:rPr>
              <a:t>• Add, edit, block or delete spaces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2103120"/>
            <a:ext cx="3246120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38160" y="2286000"/>
            <a:ext cx="1965960" cy="274320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2313432"/>
            <a:ext cx="196596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1">
                <a:solidFill>
                  <a:srgbClr val="346BFF"/>
                </a:solidFill>
                <a:latin typeface="Aptos"/>
              </a:rPr>
              <a:t>COMMERCIAL &amp; 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697480"/>
            <a:ext cx="2819400" cy="25955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20" b="1" dirty="0">
                <a:solidFill>
                  <a:srgbClr val="0C2340"/>
                </a:solidFill>
                <a:latin typeface="Aptos"/>
              </a:rPr>
              <a:t>Commercial &amp; operational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072384"/>
            <a:ext cx="2651760" cy="10058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>
                <a:solidFill>
                  <a:srgbClr val="5E7185"/>
                </a:solidFill>
                <a:latin typeface="Aptos"/>
              </a:rPr>
              <a:t>• Update parking prices</a:t>
            </a:r>
          </a:p>
          <a:p>
            <a:pPr algn="l"/>
            <a:r>
              <a:rPr sz="1320" b="0">
                <a:solidFill>
                  <a:srgbClr val="5E7185"/>
                </a:solidFill>
                <a:latin typeface="Aptos"/>
              </a:rPr>
              <a:t>• Review parked vehicles</a:t>
            </a:r>
          </a:p>
          <a:p>
            <a:pPr algn="l"/>
            <a:r>
              <a:rPr sz="1320" b="0">
                <a:solidFill>
                  <a:srgbClr val="5E7185"/>
                </a:solidFill>
                <a:latin typeface="Aptos"/>
              </a:rPr>
              <a:t>• Add or remove exempt license plates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800600"/>
            <a:ext cx="6858000" cy="64008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26280" y="5001768"/>
            <a:ext cx="64008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00" b="1">
                <a:solidFill>
                  <a:srgbClr val="346BFF"/>
                </a:solidFill>
                <a:latin typeface="Aptos"/>
              </a:rPr>
              <a:t>Authorized access controls which cities and parking lots the manager can operate.</a:t>
            </a:r>
          </a:p>
        </p:txBody>
      </p:sp>
    </p:spTree>
    <p:extLst>
      <p:ext uri="{BB962C8B-B14F-4D97-AF65-F5344CB8AC3E}">
        <p14:creationId xmlns:p14="http://schemas.microsoft.com/office/powerpoint/2010/main" val="219816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END-TO-END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Typical Driver Journey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A single driver journey spans discovery, arrival, parking, payment and exit.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246120"/>
            <a:ext cx="10058400" cy="0"/>
          </a:xfrm>
          <a:prstGeom prst="line">
            <a:avLst/>
          </a:prstGeom>
          <a:ln w="508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5720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19" y="2331720"/>
            <a:ext cx="11887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1042415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>
                <a:solidFill>
                  <a:srgbClr val="0C2340"/>
                </a:solidFill>
                <a:latin typeface="Aptos"/>
              </a:rPr>
              <a:t>Open site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97280" y="2971800"/>
            <a:ext cx="0" cy="45720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68880" y="3017520"/>
            <a:ext cx="457200" cy="457200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3035808"/>
            <a:ext cx="45720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703320"/>
            <a:ext cx="11887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76272" y="3895344"/>
            <a:ext cx="1042415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>
                <a:solidFill>
                  <a:srgbClr val="0C2340"/>
                </a:solidFill>
                <a:latin typeface="Aptos"/>
              </a:rPr>
              <a:t>Allow location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3474720"/>
            <a:ext cx="0" cy="228600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69080" y="3017520"/>
            <a:ext cx="457200" cy="457200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69080" y="3035808"/>
            <a:ext cx="45720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2331720"/>
            <a:ext cx="11887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76472" y="2523744"/>
            <a:ext cx="1042415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 dirty="0">
                <a:solidFill>
                  <a:srgbClr val="0C2340"/>
                </a:solidFill>
                <a:latin typeface="Aptos"/>
              </a:rPr>
              <a:t>Choose lot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297680" y="2971800"/>
            <a:ext cx="0" cy="45720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669280" y="3017520"/>
            <a:ext cx="457200" cy="457200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0" y="3035808"/>
            <a:ext cx="45720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3703320"/>
            <a:ext cx="11887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76672" y="3895344"/>
            <a:ext cx="1042415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>
                <a:solidFill>
                  <a:srgbClr val="0C2340"/>
                </a:solidFill>
                <a:latin typeface="Aptos"/>
              </a:rPr>
              <a:t>Navigate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97880" y="3474720"/>
            <a:ext cx="0" cy="228600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269479" y="3017520"/>
            <a:ext cx="457200" cy="457200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69479" y="3035808"/>
            <a:ext cx="45720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19" y="2331720"/>
            <a:ext cx="11887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76871" y="2523744"/>
            <a:ext cx="1042415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>
                <a:solidFill>
                  <a:srgbClr val="0C2340"/>
                </a:solidFill>
                <a:latin typeface="Aptos"/>
              </a:rPr>
              <a:t>Enter &amp; park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98079" y="2971800"/>
            <a:ext cx="0" cy="45720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869680" y="3017520"/>
            <a:ext cx="457200" cy="457200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0" y="3035808"/>
            <a:ext cx="45720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19" y="3703320"/>
            <a:ext cx="11887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77072" y="3895344"/>
            <a:ext cx="1042415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>
                <a:solidFill>
                  <a:srgbClr val="0C2340"/>
                </a:solidFill>
                <a:latin typeface="Aptos"/>
              </a:rPr>
              <a:t>Pay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98280" y="3474720"/>
            <a:ext cx="0" cy="228600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0469880" y="3017520"/>
            <a:ext cx="457200" cy="457200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69880" y="3035808"/>
            <a:ext cx="45720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19" y="2331720"/>
            <a:ext cx="11887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77272" y="2523744"/>
            <a:ext cx="1042415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>
                <a:solidFill>
                  <a:srgbClr val="0C2340"/>
                </a:solidFill>
                <a:latin typeface="Aptos"/>
              </a:rPr>
              <a:t>Exit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10698480" y="2971800"/>
            <a:ext cx="0" cy="45720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51560" y="4846320"/>
            <a:ext cx="10012680" cy="548640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61872" y="5001768"/>
            <a:ext cx="96012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40" b="1">
                <a:solidFill>
                  <a:srgbClr val="FFFFFF"/>
                </a:solidFill>
                <a:latin typeface="Aptos"/>
              </a:rPr>
              <a:t>REAL-TIME LAYER  •  LoRa updates space status  •  Socket.IO updates clients  •  server owns session and billing state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5577840"/>
            <a:ext cx="507492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66160" y="5605272"/>
            <a:ext cx="50749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>
                <a:solidFill>
                  <a:srgbClr val="1DB5A8"/>
                </a:solidFill>
                <a:latin typeface="Aptos"/>
              </a:rPr>
              <a:t>Payment success starts a 15-minute exit window.</a:t>
            </a:r>
          </a:p>
        </p:txBody>
      </p:sp>
    </p:spTree>
    <p:extLst>
      <p:ext uri="{BB962C8B-B14F-4D97-AF65-F5344CB8AC3E}">
        <p14:creationId xmlns:p14="http://schemas.microsoft.com/office/powerpoint/2010/main" val="1478200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AUTHORIZED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Typical Manager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Manager actions pass through authentication, authorization and persistence before changes are broadcast.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393192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8136" y="2194560"/>
            <a:ext cx="347472" cy="347472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2212848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21992"/>
            <a:ext cx="29718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60" b="1">
                <a:solidFill>
                  <a:srgbClr val="0C2340"/>
                </a:solidFill>
                <a:latin typeface="Aptos"/>
              </a:rPr>
              <a:t>Cookie authentication</a:t>
            </a:r>
          </a:p>
        </p:txBody>
      </p:sp>
      <p:cxnSp>
        <p:nvCxnSpPr>
          <p:cNvPr id="13" name="Connector 12"/>
          <p:cNvCxnSpPr>
            <a:cxnSpLocks/>
            <a:stCxn id="9" idx="2"/>
            <a:endCxn id="14" idx="0"/>
          </p:cNvCxnSpPr>
          <p:nvPr/>
        </p:nvCxnSpPr>
        <p:spPr>
          <a:xfrm>
            <a:off x="2880360" y="2679192"/>
            <a:ext cx="0" cy="219456"/>
          </a:xfrm>
          <a:prstGeom prst="line">
            <a:avLst/>
          </a:prstGeom>
          <a:ln w="2032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898648"/>
            <a:ext cx="393192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88136" y="3035808"/>
            <a:ext cx="347472" cy="347472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" y="3054096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63240"/>
            <a:ext cx="29718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60" b="1">
                <a:solidFill>
                  <a:srgbClr val="0C2340"/>
                </a:solidFill>
                <a:latin typeface="Aptos"/>
              </a:rPr>
              <a:t>Load authorized cities</a:t>
            </a:r>
          </a:p>
        </p:txBody>
      </p:sp>
      <p:cxnSp>
        <p:nvCxnSpPr>
          <p:cNvPr id="18" name="Connector 17"/>
          <p:cNvCxnSpPr>
            <a:cxnSpLocks/>
            <a:stCxn id="14" idx="2"/>
            <a:endCxn id="19" idx="0"/>
          </p:cNvCxnSpPr>
          <p:nvPr/>
        </p:nvCxnSpPr>
        <p:spPr>
          <a:xfrm>
            <a:off x="2880360" y="3520440"/>
            <a:ext cx="0" cy="219456"/>
          </a:xfrm>
          <a:prstGeom prst="line">
            <a:avLst/>
          </a:prstGeom>
          <a:ln w="2032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739896"/>
            <a:ext cx="393192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8136" y="3877055"/>
            <a:ext cx="347472" cy="347472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" y="3895343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904487"/>
            <a:ext cx="29718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60" b="1">
                <a:solidFill>
                  <a:srgbClr val="0C2340"/>
                </a:solidFill>
                <a:latin typeface="Aptos"/>
              </a:rPr>
              <a:t>Load managed lots</a:t>
            </a:r>
          </a:p>
        </p:txBody>
      </p:sp>
      <p:cxnSp>
        <p:nvCxnSpPr>
          <p:cNvPr id="23" name="Connector 22"/>
          <p:cNvCxnSpPr>
            <a:cxnSpLocks/>
            <a:stCxn id="19" idx="2"/>
            <a:endCxn id="24" idx="0"/>
          </p:cNvCxnSpPr>
          <p:nvPr/>
        </p:nvCxnSpPr>
        <p:spPr>
          <a:xfrm>
            <a:off x="2880360" y="4361688"/>
            <a:ext cx="0" cy="219456"/>
          </a:xfrm>
          <a:prstGeom prst="line">
            <a:avLst/>
          </a:prstGeom>
          <a:ln w="2032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4581144"/>
            <a:ext cx="393192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88136" y="4718303"/>
            <a:ext cx="347472" cy="347472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" y="4736591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745736"/>
            <a:ext cx="29718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60" b="1">
                <a:solidFill>
                  <a:srgbClr val="0C2340"/>
                </a:solidFill>
                <a:latin typeface="Aptos"/>
              </a:rPr>
              <a:t>Edit lot / level / space</a:t>
            </a:r>
          </a:p>
        </p:txBody>
      </p:sp>
      <p:cxnSp>
        <p:nvCxnSpPr>
          <p:cNvPr id="28" name="Connector 27"/>
          <p:cNvCxnSpPr>
            <a:cxnSpLocks/>
            <a:stCxn id="24" idx="2"/>
            <a:endCxn id="29" idx="0"/>
          </p:cNvCxnSpPr>
          <p:nvPr/>
        </p:nvCxnSpPr>
        <p:spPr>
          <a:xfrm>
            <a:off x="2880360" y="5202936"/>
            <a:ext cx="0" cy="219456"/>
          </a:xfrm>
          <a:prstGeom prst="line">
            <a:avLst/>
          </a:prstGeom>
          <a:ln w="2032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" y="5422392"/>
            <a:ext cx="393192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88136" y="5559551"/>
            <a:ext cx="347472" cy="347472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8136" y="5577839"/>
            <a:ext cx="347472" cy="32918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586983"/>
            <a:ext cx="29718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60" b="1">
                <a:solidFill>
                  <a:srgbClr val="0C2340"/>
                </a:solidFill>
                <a:latin typeface="Aptos"/>
              </a:rPr>
              <a:t>Persist and broadcast 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2148840"/>
            <a:ext cx="5166360" cy="2340864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15199" y="2194561"/>
            <a:ext cx="1691640" cy="27432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199" y="2221992"/>
            <a:ext cx="169164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 dirty="0">
                <a:solidFill>
                  <a:srgbClr val="E95A53"/>
                </a:solidFill>
                <a:latin typeface="Aptos"/>
              </a:rPr>
              <a:t>PERMISSION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646681"/>
            <a:ext cx="4434840" cy="3840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A manager can operate only on parking lots inside the cities assigned to the account.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59" y="3780536"/>
            <a:ext cx="4251960" cy="43891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20" b="0" dirty="0" err="1">
                <a:solidFill>
                  <a:srgbClr val="FFFFFF"/>
                </a:solidFill>
                <a:latin typeface="Aptos"/>
              </a:rPr>
              <a:t>authorizedCities</a:t>
            </a:r>
            <a:r>
              <a:rPr sz="1320" b="0" dirty="0">
                <a:solidFill>
                  <a:srgbClr val="FFFFFF"/>
                </a:solidFill>
                <a:latin typeface="Aptos"/>
              </a:rPr>
              <a:t> is loaded after login and becomes the boundary for city, lot and management operations.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617720"/>
            <a:ext cx="4434840" cy="82296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4828032"/>
            <a:ext cx="3977639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00" b="1">
                <a:solidFill>
                  <a:srgbClr val="1DB5A8"/>
                </a:solidFill>
                <a:latin typeface="Aptos"/>
              </a:rPr>
              <a:t>Persist first → broadcast after the server has accepted the change.</a:t>
            </a:r>
          </a:p>
        </p:txBody>
      </p:sp>
    </p:spTree>
    <p:extLst>
      <p:ext uri="{BB962C8B-B14F-4D97-AF65-F5344CB8AC3E}">
        <p14:creationId xmlns:p14="http://schemas.microsoft.com/office/powerpoint/2010/main" val="1520560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D7F313-96F8-4C48-9DF0-7B72B52175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EB375-2422-41DE-A38D-73F75AF1949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AUTHORIZED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0B290-12F8-4FD7-95C8-B2F1C97C4BAC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Administrator Dashboard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92FFBCC-A11D-498F-8816-813CA4B37902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69A37-7CCF-4417-A59C-776B8CF26A97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1B3FD-30DA-4522-9F3A-6A652150676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4EA5BC-98FF-4C1C-AD8A-630743DAD341}"/>
              </a:ext>
            </a:extLst>
          </p:cNvPr>
          <p:cNvSpPr>
            <a:spLocks noGrp="1"/>
          </p:cNvSpPr>
          <p:nvPr/>
        </p:nvSpPr>
        <p:spPr>
          <a:xfrm>
            <a:off x="4876800" y="1504950"/>
            <a:ext cx="662940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1939599"/>
            <a:ext cx="6477000" cy="3645553"/>
          </a:xfrm>
          <a:prstGeom prst="roundRect">
            <a:avLst>
              <a:gd name="adj" fmla="val 262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4C9ED5D-4C8D-4474-8A46-B92A908E6BF9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3714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86177"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Access follows assigned cities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6455B6-11B8-4FAC-B457-B5E16AD659B6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37147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Cookie-based authenticated session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Cities loaded from authorized</a:t>
            </a:r>
            <a:r>
              <a:rPr lang="en-US"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 </a:t>
            </a: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Cities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Parking lot count shown for each city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The manager enters only the assigned operational area</a:t>
            </a:r>
          </a:p>
        </p:txBody>
      </p:sp>
    </p:spTree>
    <p:extLst>
      <p:ext uri="{BB962C8B-B14F-4D97-AF65-F5344CB8AC3E}">
        <p14:creationId xmlns:p14="http://schemas.microsoft.com/office/powerpoint/2010/main" val="1805766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AB6845-9DE8-4EAF-A896-C602ED6704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33782E-DDDF-474A-BE43-003B252F4D0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ADMINISTRATOR AREA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9EE51B-7407-423A-983E-DEFC7B977D61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Managed Parking Lots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4BFA58B-69A2-4460-ACF8-9000E0740D67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F6F777-BF95-49D9-9D48-969597809D98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1FAE0-268C-4B0F-A881-AFC658B907D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D0DA39-A3F1-414A-93C3-FA9B302B50E5}"/>
              </a:ext>
            </a:extLst>
          </p:cNvPr>
          <p:cNvSpPr>
            <a:spLocks noGrp="1"/>
          </p:cNvSpPr>
          <p:nvPr/>
        </p:nvSpPr>
        <p:spPr>
          <a:xfrm>
            <a:off x="4686300" y="1504950"/>
            <a:ext cx="681990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677904"/>
            <a:ext cx="6667500" cy="4168942"/>
          </a:xfrm>
          <a:prstGeom prst="roundRect">
            <a:avLst>
              <a:gd name="adj" fmla="val 262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68BA35-47DC-4D7D-993F-7F3BC0DF318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476625" cy="3714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Create a parking lot with its initial spaces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Review address, levels, capacity and tariff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Open pricing and lot details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Manage space status and active vehicles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Maintain exempt vehicle lists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Delete a parking lot after confirmation</a:t>
            </a:r>
          </a:p>
        </p:txBody>
      </p:sp>
    </p:spTree>
    <p:extLst>
      <p:ext uri="{BB962C8B-B14F-4D97-AF65-F5344CB8AC3E}">
        <p14:creationId xmlns:p14="http://schemas.microsoft.com/office/powerpoint/2010/main" val="1719678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81DD1D1-2C0D-439A-A741-A980592373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2818A5-5EF4-402E-B597-205C01A8963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COMMERCIAL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AB8E10-C535-409E-B988-E9E1E4A53A0D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Parking Lot Details &amp; Pricing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748366-106A-4DF8-83C7-8E12873C0C0E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ADD03C-46E4-49E7-B858-DA069C78C174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FCD07-BA09-4217-9C6D-6B14123FF5B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CBA533-50D1-490F-A0EB-58C0F25F2E88}"/>
              </a:ext>
            </a:extLst>
          </p:cNvPr>
          <p:cNvSpPr>
            <a:spLocks noGrp="1"/>
          </p:cNvSpPr>
          <p:nvPr/>
        </p:nvSpPr>
        <p:spPr>
          <a:xfrm>
            <a:off x="5638800" y="1504950"/>
            <a:ext cx="586740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0" y="1975686"/>
            <a:ext cx="5715000" cy="3573379"/>
          </a:xfrm>
          <a:prstGeom prst="roundRect">
            <a:avLst>
              <a:gd name="adj" fmla="val 262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70646B-00C8-4D7C-8504-3B1DFBD184EE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Editable fields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248037-8DA8-43AA-AD3A-6D8CF889D724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286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7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Parking lot name and address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7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Free parking mode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7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Initial free hours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7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Price per minute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7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Daily payment cap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9374CD-60B8-4888-B90B-B763CB98EDE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286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The server remains the source of truth for prices and billing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77104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7ED4CB-1FA4-4F44-AFED-4750099A64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C63CD-04C5-46EF-A3B3-83B72083FEB8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OPERATIONAL VISIBILITY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9E98C-5CFA-4DF5-9355-CB584DD567C3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Live Parked Vehicle Monitoring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B060FFD-1AA9-429F-9B61-78BE435FA18C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4CA7E-A5A3-4114-B684-94161B564F2E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DFC87A-4A35-46A1-A9A5-1B51A0FC3B9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16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F1A26A-0DA0-41C8-B03F-8FFC8136DBAA}"/>
              </a:ext>
            </a:extLst>
          </p:cNvPr>
          <p:cNvSpPr>
            <a:spLocks noGrp="1"/>
          </p:cNvSpPr>
          <p:nvPr/>
        </p:nvSpPr>
        <p:spPr>
          <a:xfrm>
            <a:off x="5353050" y="1504950"/>
            <a:ext cx="615315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86351"/>
            <a:ext cx="6000750" cy="3752048"/>
          </a:xfrm>
          <a:prstGeom prst="roundRect">
            <a:avLst>
              <a:gd name="adj" fmla="val 262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0666C6-9117-404B-8005-7CD994A3DF14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Current session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F17F50-3A7E-4A92-BC7B-798523573923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409575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Search by license plate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View entry time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Track current parking duration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Inspect only the selected parking lot</a:t>
            </a:r>
          </a:p>
        </p:txBody>
      </p:sp>
    </p:spTree>
    <p:extLst>
      <p:ext uri="{BB962C8B-B14F-4D97-AF65-F5344CB8AC3E}">
        <p14:creationId xmlns:p14="http://schemas.microsoft.com/office/powerpoint/2010/main" val="39728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66D126-C07B-4964-84C6-E6734D0000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3A309E-5933-4947-A008-9BBC27CF2CA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PARKING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1427B-E2B4-45F6-AD5A-622B2721AD64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Level &amp; Parking Space Management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27D77F8-2C55-41FA-95E5-81E728244BE3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CE9F44-7C29-4788-9C36-46AC5288613F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43A2E-B10C-4D7B-A11B-C5B9F6825B9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FD4623-09ED-439F-86E2-F6216F79FC7B}"/>
              </a:ext>
            </a:extLst>
          </p:cNvPr>
          <p:cNvSpPr>
            <a:spLocks noGrp="1"/>
          </p:cNvSpPr>
          <p:nvPr/>
        </p:nvSpPr>
        <p:spPr>
          <a:xfrm>
            <a:off x="4876800" y="1504950"/>
            <a:ext cx="662940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1737460"/>
            <a:ext cx="6477000" cy="4049829"/>
          </a:xfrm>
          <a:prstGeom prst="roundRect">
            <a:avLst>
              <a:gd name="adj" fmla="val 262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ACF26C-339F-4570-886F-890AA2BC4A5B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667125" cy="3714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Move between parking levels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Add a new level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Remove the final level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Add spaces when capacity permits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Select a space for detailed editing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Read free, occupied, blocked and special types</a:t>
            </a:r>
          </a:p>
        </p:txBody>
      </p:sp>
    </p:spTree>
    <p:extLst>
      <p:ext uri="{BB962C8B-B14F-4D97-AF65-F5344CB8AC3E}">
        <p14:creationId xmlns:p14="http://schemas.microsoft.com/office/powerpoint/2010/main" val="1027631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0E43709-7E9F-4590-A414-98D3B450C8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2F4100-C901-4E7D-87E3-90404DC88E9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DETAILED ADMINISTRATION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BBED7-48A8-4300-8918-5113F398ACB5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Space Status &amp; Exempt Vehicle Controls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CBCBC2E-34B3-48E1-95A8-01E08CB831CC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2F914-3518-402F-AE5A-D83B1385BA64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09EBE-E5B9-4F28-8062-19BE54EC8C7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7B9764-9296-475D-B804-9A9A09060C90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5486400" cy="392430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894773"/>
            <a:ext cx="5334000" cy="3335154"/>
          </a:xfrm>
          <a:prstGeom prst="roundRect">
            <a:avLst>
              <a:gd name="adj" fmla="val 3030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59D9D1-B7DE-40E8-B061-68BB48BDB182}"/>
              </a:ext>
            </a:extLst>
          </p:cNvPr>
          <p:cNvSpPr>
            <a:spLocks noGrp="1"/>
          </p:cNvSpPr>
          <p:nvPr/>
        </p:nvSpPr>
        <p:spPr>
          <a:xfrm>
            <a:off x="6229350" y="1600200"/>
            <a:ext cx="5486400" cy="392430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894773"/>
            <a:ext cx="5334000" cy="3335154"/>
          </a:xfrm>
          <a:prstGeom prst="roundRect">
            <a:avLst>
              <a:gd name="adj" fmla="val 303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66F327-9591-4FB1-8800-8A352A151E1E}"/>
              </a:ext>
            </a:extLst>
          </p:cNvPr>
          <p:cNvSpPr>
            <a:spLocks noGrp="1"/>
          </p:cNvSpPr>
          <p:nvPr/>
        </p:nvSpPr>
        <p:spPr>
          <a:xfrm>
            <a:off x="552450" y="56388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Individual 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E3585B-3CAE-494E-885C-9689B3A1916B}"/>
              </a:ext>
            </a:extLst>
          </p:cNvPr>
          <p:cNvSpPr>
            <a:spLocks noGrp="1"/>
          </p:cNvSpPr>
          <p:nvPr/>
        </p:nvSpPr>
        <p:spPr>
          <a:xfrm>
            <a:off x="552450" y="594360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Status, type and deletion controls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CC83A9-3FC5-4C48-9C7F-CF82B7941E9F}"/>
              </a:ext>
            </a:extLst>
          </p:cNvPr>
          <p:cNvSpPr>
            <a:spLocks noGrp="1"/>
          </p:cNvSpPr>
          <p:nvPr/>
        </p:nvSpPr>
        <p:spPr>
          <a:xfrm>
            <a:off x="6305550" y="56388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Exempt vehicles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D3AC6-1B81-4586-86D4-E23F6BD59C41}"/>
              </a:ext>
            </a:extLst>
          </p:cNvPr>
          <p:cNvSpPr>
            <a:spLocks noGrp="1"/>
          </p:cNvSpPr>
          <p:nvPr/>
        </p:nvSpPr>
        <p:spPr>
          <a:xfrm>
            <a:off x="6305550" y="594360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0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Add, remove and save license plates per lot</a:t>
            </a:r>
          </a:p>
        </p:txBody>
      </p:sp>
    </p:spTree>
    <p:extLst>
      <p:ext uri="{BB962C8B-B14F-4D97-AF65-F5344CB8AC3E}">
        <p14:creationId xmlns:p14="http://schemas.microsoft.com/office/powerpoint/2010/main" val="1862668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39168D9-2483-4090-A8AC-E1E4158D34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0553F-F7D3-48F3-A03E-CAD60277C05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INFORMATION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60177B-D193-4A96-800E-4615C9536065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Product Navigation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95B52DB-8F8B-444C-8FFC-F8CC31FE2D3C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011871-07C2-4382-95C0-21E2ED40F388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2DFAD-4EF4-4AEE-B2D9-CB470850733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 dirty="0">
                <a:solidFill>
                  <a:srgbClr val="346BFF"/>
                </a:solidFill>
                <a:latin typeface="Aptos"/>
              </a:rPr>
              <a:t>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DB786E-EB21-458D-A7C6-2509008B83D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652AA33-00AA-41A4-A186-D460191FBB53}"/>
              </a:ext>
            </a:extLst>
          </p:cNvPr>
          <p:cNvSpPr>
            <a:spLocks noGrp="1"/>
          </p:cNvSpPr>
          <p:nvPr/>
        </p:nvSpPr>
        <p:spPr>
          <a:xfrm>
            <a:off x="2238375" y="2143125"/>
            <a:ext cx="0" cy="3143250"/>
          </a:xfrm>
          <a:prstGeom prst="line">
            <a:avLst/>
          </a:prstGeom>
          <a:noFill/>
          <a:ln w="1905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8B3EE7-AF0F-472A-BDE6-5E4CBF32169D}"/>
              </a:ext>
            </a:extLst>
          </p:cNvPr>
          <p:cNvSpPr>
            <a:spLocks noGrp="1"/>
          </p:cNvSpPr>
          <p:nvPr/>
        </p:nvSpPr>
        <p:spPr>
          <a:xfrm>
            <a:off x="2124075" y="2324100"/>
            <a:ext cx="228600" cy="228600"/>
          </a:xfrm>
          <a:prstGeom prst="ellipse">
            <a:avLst/>
          </a:prstGeom>
          <a:solidFill>
            <a:srgbClr val="16B7A5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764D4-6291-4BAC-870C-2862AC2B8FDA}"/>
              </a:ext>
            </a:extLst>
          </p:cNvPr>
          <p:cNvSpPr>
            <a:spLocks noGrp="1"/>
          </p:cNvSpPr>
          <p:nvPr/>
        </p:nvSpPr>
        <p:spPr>
          <a:xfrm>
            <a:off x="2476500" y="2295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0AC0D9-75BE-4300-B555-37101AE5CEF2}"/>
              </a:ext>
            </a:extLst>
          </p:cNvPr>
          <p:cNvSpPr>
            <a:spLocks noGrp="1"/>
          </p:cNvSpPr>
          <p:nvPr/>
        </p:nvSpPr>
        <p:spPr>
          <a:xfrm>
            <a:off x="2124075" y="2705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01C445-28D1-4EA3-BB7B-0A67AFC2650A}"/>
              </a:ext>
            </a:extLst>
          </p:cNvPr>
          <p:cNvSpPr>
            <a:spLocks noGrp="1"/>
          </p:cNvSpPr>
          <p:nvPr/>
        </p:nvSpPr>
        <p:spPr>
          <a:xfrm>
            <a:off x="2476500" y="2676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Nearby results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889BFB-4AA0-46EE-BABB-AF99F12F6EFB}"/>
              </a:ext>
            </a:extLst>
          </p:cNvPr>
          <p:cNvSpPr>
            <a:spLocks noGrp="1"/>
          </p:cNvSpPr>
          <p:nvPr/>
        </p:nvSpPr>
        <p:spPr>
          <a:xfrm>
            <a:off x="2124075" y="3086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8DAC74-FD45-412F-AE37-057D5BA91EC0}"/>
              </a:ext>
            </a:extLst>
          </p:cNvPr>
          <p:cNvSpPr>
            <a:spLocks noGrp="1"/>
          </p:cNvSpPr>
          <p:nvPr/>
        </p:nvSpPr>
        <p:spPr>
          <a:xfrm>
            <a:off x="2476500" y="3057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All lots + map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7B3CFC-6617-48E9-BE10-F7FA0369E12F}"/>
              </a:ext>
            </a:extLst>
          </p:cNvPr>
          <p:cNvSpPr>
            <a:spLocks noGrp="1"/>
          </p:cNvSpPr>
          <p:nvPr/>
        </p:nvSpPr>
        <p:spPr>
          <a:xfrm>
            <a:off x="2124075" y="3467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3BC970-0B03-4214-8DFC-C823ECAADD14}"/>
              </a:ext>
            </a:extLst>
          </p:cNvPr>
          <p:cNvSpPr>
            <a:spLocks noGrp="1"/>
          </p:cNvSpPr>
          <p:nvPr/>
        </p:nvSpPr>
        <p:spPr>
          <a:xfrm>
            <a:off x="2476500" y="3438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Parking lot view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38701D7-478C-4BEF-9793-5D5B382E9C9C}"/>
              </a:ext>
            </a:extLst>
          </p:cNvPr>
          <p:cNvSpPr>
            <a:spLocks noGrp="1"/>
          </p:cNvSpPr>
          <p:nvPr/>
        </p:nvSpPr>
        <p:spPr>
          <a:xfrm>
            <a:off x="2124075" y="3848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F36705-F37D-4B1B-98A1-F8D05E78BE47}"/>
              </a:ext>
            </a:extLst>
          </p:cNvPr>
          <p:cNvSpPr>
            <a:spLocks noGrp="1"/>
          </p:cNvSpPr>
          <p:nvPr/>
        </p:nvSpPr>
        <p:spPr>
          <a:xfrm>
            <a:off x="2476500" y="3819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Price list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4C38550-191D-4B03-B7F8-A3A1995957D1}"/>
              </a:ext>
            </a:extLst>
          </p:cNvPr>
          <p:cNvSpPr>
            <a:spLocks noGrp="1"/>
          </p:cNvSpPr>
          <p:nvPr/>
        </p:nvSpPr>
        <p:spPr>
          <a:xfrm>
            <a:off x="2124075" y="4229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348A7B-1986-4E5D-B7DD-25CF888906B9}"/>
              </a:ext>
            </a:extLst>
          </p:cNvPr>
          <p:cNvSpPr>
            <a:spLocks noGrp="1"/>
          </p:cNvSpPr>
          <p:nvPr/>
        </p:nvSpPr>
        <p:spPr>
          <a:xfrm>
            <a:off x="2476500" y="4200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8200FB-3C68-4DF5-8000-2129F5EFEE60}"/>
              </a:ext>
            </a:extLst>
          </p:cNvPr>
          <p:cNvSpPr>
            <a:spLocks noGrp="1"/>
          </p:cNvSpPr>
          <p:nvPr/>
        </p:nvSpPr>
        <p:spPr>
          <a:xfrm>
            <a:off x="2124075" y="4610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61736E-C4AB-4581-AA5F-0B7CBA0C5CD8}"/>
              </a:ext>
            </a:extLst>
          </p:cNvPr>
          <p:cNvSpPr>
            <a:spLocks noGrp="1"/>
          </p:cNvSpPr>
          <p:nvPr/>
        </p:nvSpPr>
        <p:spPr>
          <a:xfrm>
            <a:off x="2476500" y="4581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Settings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CC8299C-15E8-4499-B495-52244A574B1A}"/>
              </a:ext>
            </a:extLst>
          </p:cNvPr>
          <p:cNvSpPr>
            <a:spLocks noGrp="1"/>
          </p:cNvSpPr>
          <p:nvPr/>
        </p:nvSpPr>
        <p:spPr>
          <a:xfrm>
            <a:off x="2124075" y="4991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BDAB8-4395-4DB5-B996-B5C03B91C478}"/>
              </a:ext>
            </a:extLst>
          </p:cNvPr>
          <p:cNvSpPr>
            <a:spLocks noGrp="1"/>
          </p:cNvSpPr>
          <p:nvPr/>
        </p:nvSpPr>
        <p:spPr>
          <a:xfrm>
            <a:off x="2476500" y="4962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About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FBD2BE-D6F5-4386-95E3-589FE30BC1FF}"/>
              </a:ext>
            </a:extLst>
          </p:cNvPr>
          <p:cNvSpPr>
            <a:spLocks noGrp="1"/>
          </p:cNvSpPr>
          <p:nvPr/>
        </p:nvSpPr>
        <p:spPr>
          <a:xfrm>
            <a:off x="4457700" y="17145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725A8BA-E29A-448F-A6B6-79940148C005}"/>
              </a:ext>
            </a:extLst>
          </p:cNvPr>
          <p:cNvSpPr>
            <a:spLocks noGrp="1"/>
          </p:cNvSpPr>
          <p:nvPr/>
        </p:nvSpPr>
        <p:spPr>
          <a:xfrm>
            <a:off x="6029325" y="2143125"/>
            <a:ext cx="0" cy="3143250"/>
          </a:xfrm>
          <a:prstGeom prst="line">
            <a:avLst/>
          </a:prstGeom>
          <a:noFill/>
          <a:ln w="1905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80951B-9079-40EE-974E-965103AE1AD9}"/>
              </a:ext>
            </a:extLst>
          </p:cNvPr>
          <p:cNvSpPr>
            <a:spLocks noGrp="1"/>
          </p:cNvSpPr>
          <p:nvPr/>
        </p:nvSpPr>
        <p:spPr>
          <a:xfrm>
            <a:off x="5915025" y="2324100"/>
            <a:ext cx="228600" cy="228600"/>
          </a:xfrm>
          <a:prstGeom prst="ellipse">
            <a:avLst/>
          </a:prstGeom>
          <a:solidFill>
            <a:srgbClr val="2D6B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CBDEA0-BBEF-44B9-ABA2-B2D57C426FAC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Authorized login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3BA59B-F922-4140-A2AC-877D54A1402E}"/>
              </a:ext>
            </a:extLst>
          </p:cNvPr>
          <p:cNvSpPr>
            <a:spLocks noGrp="1"/>
          </p:cNvSpPr>
          <p:nvPr/>
        </p:nvSpPr>
        <p:spPr>
          <a:xfrm>
            <a:off x="5915025" y="2705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A6083F-2E75-4DDD-9BE2-2DFAE4D89CBB}"/>
              </a:ext>
            </a:extLst>
          </p:cNvPr>
          <p:cNvSpPr>
            <a:spLocks noGrp="1"/>
          </p:cNvSpPr>
          <p:nvPr/>
        </p:nvSpPr>
        <p:spPr>
          <a:xfrm>
            <a:off x="6267450" y="2676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Cookie session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4B524FC-BDED-4F33-AB55-ED7C707BAF12}"/>
              </a:ext>
            </a:extLst>
          </p:cNvPr>
          <p:cNvSpPr>
            <a:spLocks noGrp="1"/>
          </p:cNvSpPr>
          <p:nvPr/>
        </p:nvSpPr>
        <p:spPr>
          <a:xfrm>
            <a:off x="5915025" y="3086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A246ED-8760-4141-B749-FD5C2AE867E8}"/>
              </a:ext>
            </a:extLst>
          </p:cNvPr>
          <p:cNvSpPr>
            <a:spLocks noGrp="1"/>
          </p:cNvSpPr>
          <p:nvPr/>
        </p:nvSpPr>
        <p:spPr>
          <a:xfrm>
            <a:off x="6267450" y="3057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lang="en-US" sz="1200" b="0" i="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JWT</a:t>
            </a:r>
            <a:r>
              <a:rPr sz="1200" b="0" i="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 token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F1DB155-DBEA-46B7-8372-338E3C05AB74}"/>
              </a:ext>
            </a:extLst>
          </p:cNvPr>
          <p:cNvSpPr>
            <a:spLocks noGrp="1"/>
          </p:cNvSpPr>
          <p:nvPr/>
        </p:nvSpPr>
        <p:spPr>
          <a:xfrm>
            <a:off x="5915025" y="3467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57C732-CC92-44E4-9868-B3422D940FB7}"/>
              </a:ext>
            </a:extLst>
          </p:cNvPr>
          <p:cNvSpPr>
            <a:spLocks noGrp="1"/>
          </p:cNvSpPr>
          <p:nvPr/>
        </p:nvSpPr>
        <p:spPr>
          <a:xfrm>
            <a:off x="6267450" y="3438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Logout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6DB900-6131-4606-90BB-0FE1E1B2CF37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F7B3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7B32B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799B2FF8-C1E1-48BB-8D39-E83CFDC0A136}"/>
              </a:ext>
            </a:extLst>
          </p:cNvPr>
          <p:cNvSpPr>
            <a:spLocks noGrp="1"/>
          </p:cNvSpPr>
          <p:nvPr/>
        </p:nvSpPr>
        <p:spPr>
          <a:xfrm>
            <a:off x="9820275" y="2143125"/>
            <a:ext cx="0" cy="3143250"/>
          </a:xfrm>
          <a:prstGeom prst="line">
            <a:avLst/>
          </a:prstGeom>
          <a:noFill/>
          <a:ln w="1905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DD213B6-D363-4F9B-BC1A-5C4629BB1203}"/>
              </a:ext>
            </a:extLst>
          </p:cNvPr>
          <p:cNvSpPr>
            <a:spLocks noGrp="1"/>
          </p:cNvSpPr>
          <p:nvPr/>
        </p:nvSpPr>
        <p:spPr>
          <a:xfrm>
            <a:off x="9705975" y="2324100"/>
            <a:ext cx="228600" cy="228600"/>
          </a:xfrm>
          <a:prstGeom prst="ellipse">
            <a:avLst/>
          </a:prstGeom>
          <a:solidFill>
            <a:srgbClr val="F7B32B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EC480D-3320-4C5D-A607-DFB6736F99F0}"/>
              </a:ext>
            </a:extLst>
          </p:cNvPr>
          <p:cNvSpPr>
            <a:spLocks noGrp="1"/>
          </p:cNvSpPr>
          <p:nvPr/>
        </p:nvSpPr>
        <p:spPr>
          <a:xfrm>
            <a:off x="10058400" y="2295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40BCDD7-21E5-457D-BDAB-C3EE91B106E1}"/>
              </a:ext>
            </a:extLst>
          </p:cNvPr>
          <p:cNvSpPr>
            <a:spLocks noGrp="1"/>
          </p:cNvSpPr>
          <p:nvPr/>
        </p:nvSpPr>
        <p:spPr>
          <a:xfrm>
            <a:off x="9705975" y="2705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DD88D4-8617-4221-9D86-1493B4D555A0}"/>
              </a:ext>
            </a:extLst>
          </p:cNvPr>
          <p:cNvSpPr>
            <a:spLocks noGrp="1"/>
          </p:cNvSpPr>
          <p:nvPr/>
        </p:nvSpPr>
        <p:spPr>
          <a:xfrm>
            <a:off x="10058400" y="2676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Managed cities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7017880-CDD8-4F96-B5B9-FC3E906C09D3}"/>
              </a:ext>
            </a:extLst>
          </p:cNvPr>
          <p:cNvSpPr>
            <a:spLocks noGrp="1"/>
          </p:cNvSpPr>
          <p:nvPr/>
        </p:nvSpPr>
        <p:spPr>
          <a:xfrm>
            <a:off x="9705975" y="3086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8246F86-2974-4A8D-8057-5AED4EDB8B51}"/>
              </a:ext>
            </a:extLst>
          </p:cNvPr>
          <p:cNvSpPr>
            <a:spLocks noGrp="1"/>
          </p:cNvSpPr>
          <p:nvPr/>
        </p:nvSpPr>
        <p:spPr>
          <a:xfrm>
            <a:off x="10058400" y="3057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Managed lots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3401AF4-3761-41BC-972E-4CAB0920F89E}"/>
              </a:ext>
            </a:extLst>
          </p:cNvPr>
          <p:cNvSpPr>
            <a:spLocks noGrp="1"/>
          </p:cNvSpPr>
          <p:nvPr/>
        </p:nvSpPr>
        <p:spPr>
          <a:xfrm>
            <a:off x="9705975" y="3467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60CCD9-46DD-4D7F-AD9A-6183E5410A6B}"/>
              </a:ext>
            </a:extLst>
          </p:cNvPr>
          <p:cNvSpPr>
            <a:spLocks noGrp="1"/>
          </p:cNvSpPr>
          <p:nvPr/>
        </p:nvSpPr>
        <p:spPr>
          <a:xfrm>
            <a:off x="10058400" y="3438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Lot editor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60FDF7-A3BB-4DED-9EC0-DF254ABBA833}"/>
              </a:ext>
            </a:extLst>
          </p:cNvPr>
          <p:cNvSpPr>
            <a:spLocks noGrp="1"/>
          </p:cNvSpPr>
          <p:nvPr/>
        </p:nvSpPr>
        <p:spPr>
          <a:xfrm>
            <a:off x="9705975" y="3848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EC76592-B191-47C3-B2B0-E09D733068BE}"/>
              </a:ext>
            </a:extLst>
          </p:cNvPr>
          <p:cNvSpPr>
            <a:spLocks noGrp="1"/>
          </p:cNvSpPr>
          <p:nvPr/>
        </p:nvSpPr>
        <p:spPr>
          <a:xfrm>
            <a:off x="10058400" y="3819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Space editor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1FC95FE-7F14-492B-88A6-52B433B6C07E}"/>
              </a:ext>
            </a:extLst>
          </p:cNvPr>
          <p:cNvSpPr>
            <a:spLocks noGrp="1"/>
          </p:cNvSpPr>
          <p:nvPr/>
        </p:nvSpPr>
        <p:spPr>
          <a:xfrm>
            <a:off x="9705975" y="4229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63342E-1E9E-44B4-9BA8-CFC817B7BA77}"/>
              </a:ext>
            </a:extLst>
          </p:cNvPr>
          <p:cNvSpPr>
            <a:spLocks noGrp="1"/>
          </p:cNvSpPr>
          <p:nvPr/>
        </p:nvSpPr>
        <p:spPr>
          <a:xfrm>
            <a:off x="10058400" y="4200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Active vehicles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FF871CD-74B3-4294-A5B2-DF191F154608}"/>
              </a:ext>
            </a:extLst>
          </p:cNvPr>
          <p:cNvSpPr>
            <a:spLocks noGrp="1"/>
          </p:cNvSpPr>
          <p:nvPr/>
        </p:nvSpPr>
        <p:spPr>
          <a:xfrm>
            <a:off x="9705975" y="4610100"/>
            <a:ext cx="228600" cy="228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5F5A61-4EBD-4BC5-813B-549D012CE73C}"/>
              </a:ext>
            </a:extLst>
          </p:cNvPr>
          <p:cNvSpPr>
            <a:spLocks noGrp="1"/>
          </p:cNvSpPr>
          <p:nvPr/>
        </p:nvSpPr>
        <p:spPr>
          <a:xfrm>
            <a:off x="10058400" y="4581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52333"/>
                </a:solidFill>
                <a:latin typeface="Arial"/>
                <a:ea typeface="Arial"/>
                <a:cs typeface="Arial"/>
              </a:rPr>
              <a:t>Exempt vehicles</a:t>
            </a:r>
          </a:p>
        </p:txBody>
      </p:sp>
    </p:spTree>
    <p:extLst>
      <p:ext uri="{BB962C8B-B14F-4D97-AF65-F5344CB8AC3E}">
        <p14:creationId xmlns:p14="http://schemas.microsoft.com/office/powerpoint/2010/main" val="1414486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2A5358-A2C9-4895-A346-1078442D02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DD1796-B9DB-4B47-AF3C-D94EC2203818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USER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B4559-F043-4511-9846-078E7A6902C7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Home &amp; Discovery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0921BE7-E1E1-4CC1-A9F7-C65C637D9B86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944A3-821E-4F2C-BA79-751093A9069D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939DC-7C8C-454A-8F7B-CA663D860E7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1958AD-A0AB-47AD-8EBF-321ED993CED0}"/>
              </a:ext>
            </a:extLst>
          </p:cNvPr>
          <p:cNvSpPr>
            <a:spLocks noGrp="1"/>
          </p:cNvSpPr>
          <p:nvPr/>
        </p:nvSpPr>
        <p:spPr>
          <a:xfrm>
            <a:off x="4876800" y="1504950"/>
            <a:ext cx="662940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46DE0-6287-46F8-A3C8-C76957614F1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 fast starting point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C930C7-52C4-4E82-A67F-63D2122DA2E0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3667125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Search by city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Use current location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Open recommended lots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Access favorites and authorized login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Designed for mobile-first use</a:t>
            </a:r>
            <a:endParaRPr lang="en-US" sz="1500" dirty="0">
              <a:solidFill>
                <a:srgbClr val="152333"/>
              </a:solidFill>
              <a:latin typeface="Arial"/>
              <a:ea typeface="Arial"/>
              <a:cs typeface="Arial"/>
            </a:endParaRP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Show nearest lots</a:t>
            </a:r>
            <a:endParaRPr sz="1500" dirty="0">
              <a:solidFill>
                <a:srgbClr val="1523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DD636F-1A3E-005A-5195-1A4DFF4D7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809751"/>
            <a:ext cx="6473952" cy="383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68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LOCATION-AWARE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Nearby Parking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Nearby parking turns browser location into a ranked list of relevant parking lots.</a:t>
            </a:r>
          </a:p>
        </p:txBody>
      </p:sp>
      <p:sp>
        <p:nvSpPr>
          <p:cNvPr id="9" name="Oval 8"/>
          <p:cNvSpPr/>
          <p:nvPr/>
        </p:nvSpPr>
        <p:spPr>
          <a:xfrm>
            <a:off x="754380" y="2308860"/>
            <a:ext cx="1874519" cy="1874519"/>
          </a:xfrm>
          <a:prstGeom prst="ellipse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71600" y="2926079"/>
            <a:ext cx="640080" cy="640080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81912" y="3136391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164592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50" b="1">
                <a:solidFill>
                  <a:srgbClr val="0C2340"/>
                </a:solidFill>
                <a:latin typeface="Aptos"/>
              </a:rPr>
              <a:t>BROWSER GPS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697480"/>
            <a:ext cx="15087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28415" y="2761488"/>
            <a:ext cx="292608" cy="29260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28415" y="2779776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182112"/>
            <a:ext cx="1188720" cy="40233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Latitude +</a:t>
            </a:r>
          </a:p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longitude</a:t>
            </a:r>
          </a:p>
        </p:txBody>
      </p:sp>
      <p:cxnSp>
        <p:nvCxnSpPr>
          <p:cNvPr id="17" name="Connector 16"/>
          <p:cNvCxnSpPr>
            <a:cxnSpLocks/>
            <a:stCxn id="13" idx="3"/>
            <a:endCxn id="18" idx="1"/>
          </p:cNvCxnSpPr>
          <p:nvPr/>
        </p:nvCxnSpPr>
        <p:spPr>
          <a:xfrm>
            <a:off x="4754880" y="3246120"/>
            <a:ext cx="502920" cy="0"/>
          </a:xfrm>
          <a:prstGeom prst="line">
            <a:avLst/>
          </a:prstGeom>
          <a:ln w="2286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57800" y="2697480"/>
            <a:ext cx="15087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40096" y="2761488"/>
            <a:ext cx="292608" cy="292608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0096" y="2779776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3182112"/>
            <a:ext cx="1188720" cy="40233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Nearby REST</a:t>
            </a:r>
          </a:p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query</a:t>
            </a:r>
          </a:p>
        </p:txBody>
      </p:sp>
      <p:cxnSp>
        <p:nvCxnSpPr>
          <p:cNvPr id="22" name="Connector 21"/>
          <p:cNvCxnSpPr>
            <a:cxnSpLocks/>
            <a:stCxn id="18" idx="3"/>
            <a:endCxn id="23" idx="1"/>
          </p:cNvCxnSpPr>
          <p:nvPr/>
        </p:nvCxnSpPr>
        <p:spPr>
          <a:xfrm>
            <a:off x="6766560" y="3246120"/>
            <a:ext cx="502920" cy="0"/>
          </a:xfrm>
          <a:prstGeom prst="line">
            <a:avLst/>
          </a:prstGeom>
          <a:ln w="2286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69480" y="2697480"/>
            <a:ext cx="15087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51775" y="2761488"/>
            <a:ext cx="292608" cy="292608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1775" y="2779776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3182112"/>
            <a:ext cx="1188720" cy="40233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Distance</a:t>
            </a:r>
          </a:p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calculation</a:t>
            </a:r>
          </a:p>
        </p:txBody>
      </p:sp>
      <p:cxnSp>
        <p:nvCxnSpPr>
          <p:cNvPr id="27" name="Connector 26"/>
          <p:cNvCxnSpPr>
            <a:cxnSpLocks/>
            <a:stCxn id="23" idx="3"/>
            <a:endCxn id="28" idx="1"/>
          </p:cNvCxnSpPr>
          <p:nvPr/>
        </p:nvCxnSpPr>
        <p:spPr>
          <a:xfrm>
            <a:off x="8778240" y="3246120"/>
            <a:ext cx="502920" cy="0"/>
          </a:xfrm>
          <a:prstGeom prst="line">
            <a:avLst/>
          </a:prstGeom>
          <a:ln w="2286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81160" y="2697480"/>
            <a:ext cx="15087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363456" y="2761488"/>
            <a:ext cx="292608" cy="29260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63456" y="2779776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182112"/>
            <a:ext cx="1188720" cy="40233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Sorted parking</a:t>
            </a:r>
          </a:p>
          <a:p>
            <a:pPr algn="ctr"/>
            <a:r>
              <a:rPr sz="1260" b="1">
                <a:solidFill>
                  <a:srgbClr val="0C2340"/>
                </a:solidFill>
                <a:latin typeface="Aptos"/>
              </a:rPr>
              <a:t>results</a:t>
            </a:r>
          </a:p>
        </p:txBody>
      </p:sp>
      <p:cxnSp>
        <p:nvCxnSpPr>
          <p:cNvPr id="32" name="Connector 31"/>
          <p:cNvCxnSpPr>
            <a:cxnSpLocks/>
            <a:stCxn id="9" idx="6"/>
            <a:endCxn id="13" idx="1"/>
          </p:cNvCxnSpPr>
          <p:nvPr/>
        </p:nvCxnSpPr>
        <p:spPr>
          <a:xfrm>
            <a:off x="2628899" y="3246120"/>
            <a:ext cx="617221" cy="0"/>
          </a:xfrm>
          <a:prstGeom prst="line">
            <a:avLst/>
          </a:prstGeom>
          <a:ln w="2286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246120" y="4434840"/>
            <a:ext cx="7543800" cy="768096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4636008"/>
            <a:ext cx="708660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20" b="1">
                <a:solidFill>
                  <a:srgbClr val="1DB5A8"/>
                </a:solidFill>
                <a:latin typeface="Aptos"/>
              </a:rPr>
              <a:t>USER BENEFIT  •  The driver sees relevant lots first, including distance and current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868390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DB96C5-084C-42A2-B4C2-2AC03A108E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B57416-9F4D-4A42-964A-A89FE0D72A27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CITY-LEVEL 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764481-7040-4B98-BE19-EABF2BD238A0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All Parking Lots &amp; Interactive Map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8952896-7529-457C-8A58-9F524D2DB7E6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435FF-01B9-4E88-A706-10CCEFF52411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34734-7F5C-4D89-9C9D-8D85CBE775A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22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563E86-20B7-48E9-A7C1-CC349E978781}"/>
              </a:ext>
            </a:extLst>
          </p:cNvPr>
          <p:cNvSpPr>
            <a:spLocks noGrp="1"/>
          </p:cNvSpPr>
          <p:nvPr/>
        </p:nvSpPr>
        <p:spPr>
          <a:xfrm>
            <a:off x="4686300" y="1504950"/>
            <a:ext cx="681990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678781"/>
            <a:ext cx="6667500" cy="4167188"/>
          </a:xfrm>
          <a:prstGeom prst="roundRect">
            <a:avLst>
              <a:gd name="adj" fmla="val 262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88DE48-9D10-49B1-88AB-E50BD2CABDEF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3476625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Browse lots grouped by city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Search by city, lot or address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View every lot on a Leaflet map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Inspect availability before opening the lot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Continue to the parking map or Waze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EFF2D6-691C-4510-AEB8-EBEC82773EB3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OpenStreetMap + Leaflet</a:t>
            </a:r>
          </a:p>
        </p:txBody>
      </p:sp>
    </p:spTree>
    <p:extLst>
      <p:ext uri="{BB962C8B-B14F-4D97-AF65-F5344CB8AC3E}">
        <p14:creationId xmlns:p14="http://schemas.microsoft.com/office/powerpoint/2010/main" val="1007006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BECD29-0263-43F7-BB7E-C0E5E2BB2B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8F7FBF-166B-40FD-83BF-6D550CE8E32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DECISION 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0CE90-68AA-4ABE-95A7-D42D51189EE2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Parking Lot Detail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80A5BEE-9858-4770-ABDD-0F573798B9ED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5946E-A9F8-42DF-BAFD-A941CEB2E6CA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30A7E-F51D-43F5-BE10-FE57F764B48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69DAEA-1A77-465F-8C49-76D75AAFA4A6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Before arrival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05C0E-AE16-432D-AA38-012E4BE93727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47625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Lot name, city and address</a:t>
            </a:r>
          </a:p>
          <a:p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Number of free spaces</a:t>
            </a:r>
          </a:p>
          <a:p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Price and tariff conditions</a:t>
            </a:r>
          </a:p>
          <a:p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Waze navigation button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0FCBAB-69DD-4699-9FDA-85404366EFAE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2D6BFF"/>
                </a:solidFill>
                <a:latin typeface="Arial"/>
                <a:ea typeface="Arial"/>
                <a:cs typeface="Arial"/>
              </a:rPr>
              <a:t>Inside the lot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4EA7-CB64-4CCC-9787-408E95103D57}"/>
              </a:ext>
            </a:extLst>
          </p:cNvPr>
          <p:cNvSpPr>
            <a:spLocks noGrp="1"/>
          </p:cNvSpPr>
          <p:nvPr/>
        </p:nvSpPr>
        <p:spPr>
          <a:xfrm>
            <a:off x="666750" y="4972050"/>
            <a:ext cx="5334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Switch between levels</a:t>
            </a:r>
          </a:p>
          <a:p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Read each numbered space</a:t>
            </a:r>
          </a:p>
          <a:p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3"/>
                </a:solidFill>
                <a:latin typeface="Arial"/>
                <a:ea typeface="Arial"/>
                <a:cs typeface="Arial"/>
              </a:rPr>
              <a:t>Recognize free, occupied and blocked states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3E06AE-2F3F-41FA-91BB-A4AEACD672E5}"/>
              </a:ext>
            </a:extLst>
          </p:cNvPr>
          <p:cNvSpPr>
            <a:spLocks noGrp="1"/>
          </p:cNvSpPr>
          <p:nvPr/>
        </p:nvSpPr>
        <p:spPr>
          <a:xfrm>
            <a:off x="5249640" y="3436401"/>
            <a:ext cx="6587016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>
                <a:latin typeface="Arial"/>
                <a:cs typeface="Arial"/>
              </a:rPr>
              <a:t>Different types of parking spaces  </a:t>
            </a:r>
            <a:endParaRPr sz="1875" b="1" dirty="0">
              <a:latin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4F0CE9-3EC4-AC1D-4641-36C1F04F5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640" y="1524000"/>
            <a:ext cx="6587016" cy="193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8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REUSABLE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Visual Parking Map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74947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 dirty="0">
                <a:solidFill>
                  <a:srgbClr val="5E7185"/>
                </a:solidFill>
                <a:latin typeface="Aptos"/>
              </a:rPr>
              <a:t>Three inputs feed one shared renderer per-lot configuration then produces the visual parking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28803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2258568"/>
            <a:ext cx="141732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4173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90" b="1">
                <a:solidFill>
                  <a:srgbClr val="1DB5A8"/>
                </a:solidFill>
                <a:latin typeface="Aptos"/>
              </a:rPr>
              <a:t>BACKGROUND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24328"/>
            <a:ext cx="246888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80" b="0">
                <a:solidFill>
                  <a:srgbClr val="0C2340"/>
                </a:solidFill>
                <a:latin typeface="Aptos"/>
              </a:rPr>
              <a:t>Aerial image of the parking site</a:t>
            </a:r>
          </a:p>
        </p:txBody>
      </p:sp>
      <p:cxnSp>
        <p:nvCxnSpPr>
          <p:cNvPr id="13" name="Connector 12"/>
          <p:cNvCxnSpPr>
            <a:cxnSpLocks/>
            <a:stCxn id="9" idx="3"/>
          </p:cNvCxnSpPr>
          <p:nvPr/>
        </p:nvCxnSpPr>
        <p:spPr>
          <a:xfrm>
            <a:off x="3703320" y="2583180"/>
            <a:ext cx="914400" cy="434340"/>
          </a:xfrm>
          <a:prstGeom prst="line">
            <a:avLst/>
          </a:prstGeom>
          <a:ln w="2032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429000"/>
            <a:ext cx="2880360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5840" y="3538728"/>
            <a:ext cx="1417320" cy="274320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14173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90" b="1">
                <a:solidFill>
                  <a:srgbClr val="346BFF"/>
                </a:solidFill>
                <a:latin typeface="Aptos"/>
              </a:rPr>
              <a:t>LAYOUT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04487"/>
            <a:ext cx="246888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80" b="0">
                <a:solidFill>
                  <a:srgbClr val="0C2340"/>
                </a:solidFill>
                <a:latin typeface="Aptos"/>
              </a:rPr>
              <a:t>Position, size and rotation for each space</a:t>
            </a:r>
          </a:p>
        </p:txBody>
      </p:sp>
      <p:cxnSp>
        <p:nvCxnSpPr>
          <p:cNvPr id="18" name="Connector 17"/>
          <p:cNvCxnSpPr>
            <a:cxnSpLocks/>
            <a:stCxn id="14" idx="3"/>
          </p:cNvCxnSpPr>
          <p:nvPr/>
        </p:nvCxnSpPr>
        <p:spPr>
          <a:xfrm flipV="1">
            <a:off x="3703320" y="3749039"/>
            <a:ext cx="914400" cy="155449"/>
          </a:xfrm>
          <a:prstGeom prst="line">
            <a:avLst/>
          </a:prstGeom>
          <a:ln w="2032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4709160"/>
            <a:ext cx="28803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5840" y="4818888"/>
            <a:ext cx="1417320" cy="274320"/>
          </a:xfrm>
          <a:prstGeom prst="roundRect">
            <a:avLst/>
          </a:prstGeom>
          <a:solidFill>
            <a:srgbClr val="FB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4173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90" b="1">
                <a:solidFill>
                  <a:srgbClr val="F2AA1F"/>
                </a:solidFill>
                <a:latin typeface="Aptos"/>
              </a:rPr>
              <a:t>LIVE SPOT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84648"/>
            <a:ext cx="246888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80" b="0">
                <a:solidFill>
                  <a:srgbClr val="0C2340"/>
                </a:solidFill>
                <a:latin typeface="Aptos"/>
              </a:rPr>
              <a:t>Number, type and current status</a:t>
            </a:r>
          </a:p>
        </p:txBody>
      </p:sp>
      <p:cxnSp>
        <p:nvCxnSpPr>
          <p:cNvPr id="23" name="Connector 22"/>
          <p:cNvCxnSpPr>
            <a:cxnSpLocks/>
            <a:stCxn id="19" idx="3"/>
          </p:cNvCxnSpPr>
          <p:nvPr/>
        </p:nvCxnSpPr>
        <p:spPr>
          <a:xfrm flipV="1">
            <a:off x="3703320" y="4552950"/>
            <a:ext cx="976630" cy="590550"/>
          </a:xfrm>
          <a:prstGeom prst="line">
            <a:avLst/>
          </a:prstGeom>
          <a:ln w="2032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17720" y="2788920"/>
            <a:ext cx="2606040" cy="1920240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3003804"/>
            <a:ext cx="20574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SHARED RENDERER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675887"/>
            <a:ext cx="2057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20" b="1">
                <a:solidFill>
                  <a:srgbClr val="1DB5A8"/>
                </a:solidFill>
                <a:latin typeface="Aptos"/>
              </a:rPr>
              <a:t>ParkingMapLayout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069080"/>
            <a:ext cx="20574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60" b="0">
                <a:solidFill>
                  <a:srgbClr val="FFFFFF"/>
                </a:solidFill>
                <a:latin typeface="Aptos"/>
              </a:rPr>
              <a:t>One component, per-lot configuration.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011680"/>
            <a:ext cx="283464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10727" y="2221992"/>
            <a:ext cx="292608" cy="29260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0727" y="2240280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148840"/>
            <a:ext cx="14173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1">
                <a:solidFill>
                  <a:srgbClr val="0C2340"/>
                </a:solidFill>
                <a:latin typeface="Aptos"/>
              </a:rPr>
              <a:t>Mediatheque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167128"/>
            <a:ext cx="713232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150" b="1">
                <a:solidFill>
                  <a:srgbClr val="5E7185"/>
                </a:solidFill>
                <a:latin typeface="Aptos"/>
              </a:rPr>
              <a:t>90 spaces</a:t>
            </a:r>
          </a:p>
        </p:txBody>
      </p:sp>
      <p:cxnSp>
        <p:nvCxnSpPr>
          <p:cNvPr id="33" name="Connector 32"/>
          <p:cNvCxnSpPr>
            <a:cxnSpLocks/>
            <a:endCxn id="28" idx="1"/>
          </p:cNvCxnSpPr>
          <p:nvPr/>
        </p:nvCxnSpPr>
        <p:spPr>
          <a:xfrm flipV="1">
            <a:off x="7223760" y="2368296"/>
            <a:ext cx="777240" cy="649224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01000" y="2971800"/>
            <a:ext cx="283464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10727" y="3182112"/>
            <a:ext cx="292608" cy="29260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10727" y="3200400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108960"/>
            <a:ext cx="14173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1">
                <a:solidFill>
                  <a:srgbClr val="0C2340"/>
                </a:solidFill>
                <a:latin typeface="Aptos"/>
              </a:rPr>
              <a:t>Haifa 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127248"/>
            <a:ext cx="713232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150" b="1">
                <a:solidFill>
                  <a:srgbClr val="5E7185"/>
                </a:solidFill>
                <a:latin typeface="Aptos"/>
              </a:rPr>
              <a:t>59 spaces</a:t>
            </a:r>
          </a:p>
        </p:txBody>
      </p:sp>
      <p:cxnSp>
        <p:nvCxnSpPr>
          <p:cNvPr id="39" name="Connector 38"/>
          <p:cNvCxnSpPr>
            <a:cxnSpLocks/>
            <a:endCxn id="34" idx="1"/>
          </p:cNvCxnSpPr>
          <p:nvPr/>
        </p:nvCxnSpPr>
        <p:spPr>
          <a:xfrm flipV="1">
            <a:off x="7223760" y="3328416"/>
            <a:ext cx="777240" cy="420623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001000" y="3931920"/>
            <a:ext cx="283464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110727" y="4142231"/>
            <a:ext cx="292608" cy="29260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10727" y="4160519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069080"/>
            <a:ext cx="14173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1">
                <a:solidFill>
                  <a:srgbClr val="0C2340"/>
                </a:solidFill>
                <a:latin typeface="Aptos"/>
              </a:rPr>
              <a:t>Beersheba Center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4087368"/>
            <a:ext cx="713232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150" b="1">
                <a:solidFill>
                  <a:srgbClr val="5E7185"/>
                </a:solidFill>
                <a:latin typeface="Aptos"/>
              </a:rPr>
              <a:t>78 spaces</a:t>
            </a:r>
          </a:p>
        </p:txBody>
      </p:sp>
      <p:cxnSp>
        <p:nvCxnSpPr>
          <p:cNvPr id="45" name="Connector 44"/>
          <p:cNvCxnSpPr>
            <a:cxnSpLocks/>
            <a:endCxn id="40" idx="1"/>
          </p:cNvCxnSpPr>
          <p:nvPr/>
        </p:nvCxnSpPr>
        <p:spPr>
          <a:xfrm>
            <a:off x="7223760" y="4160519"/>
            <a:ext cx="777240" cy="128017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001000" y="4892040"/>
            <a:ext cx="283464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110727" y="5102351"/>
            <a:ext cx="292608" cy="292608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10727" y="5120639"/>
            <a:ext cx="292608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5029200"/>
            <a:ext cx="14173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1">
                <a:solidFill>
                  <a:srgbClr val="0C2340"/>
                </a:solidFill>
                <a:latin typeface="Aptos"/>
              </a:rPr>
              <a:t>Generic fallback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5047488"/>
            <a:ext cx="713232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150" b="1">
                <a:solidFill>
                  <a:srgbClr val="5E7185"/>
                </a:solidFill>
                <a:latin typeface="Aptos"/>
              </a:rPr>
              <a:t>other lots</a:t>
            </a:r>
          </a:p>
        </p:txBody>
      </p:sp>
      <p:cxnSp>
        <p:nvCxnSpPr>
          <p:cNvPr id="51" name="Connector 50"/>
          <p:cNvCxnSpPr>
            <a:cxnSpLocks/>
            <a:endCxn id="46" idx="1"/>
          </p:cNvCxnSpPr>
          <p:nvPr/>
        </p:nvCxnSpPr>
        <p:spPr>
          <a:xfrm>
            <a:off x="7099300" y="4645152"/>
            <a:ext cx="901700" cy="603504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044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D669AD-3F5B-45AF-B1CE-F75A184914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63820E-6379-429E-A515-1C9EA73AD00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IMAGE-BASED PARKING LAYOUT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D01ECE-F844-4CEC-9B9B-FE797EF6CAB0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Mediatheque Parking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9C4CFFF-A379-4D8B-92E6-F62BDCBEFA45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1E5D0-6BAB-4ECB-AB06-27AC8504EC89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D7C50-C8D4-4FC0-98F8-DA405D381CA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25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D79B2E-B5BB-4F8A-AF3D-F144981DF6CE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52006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6689" r="6689"/>
          <a:stretch>
            <a:fillRect/>
          </a:stretch>
        </p:blipFill>
        <p:spPr>
          <a:xfrm>
            <a:off x="590550" y="1714500"/>
            <a:ext cx="5048250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F3B2C9-CB5C-40A2-B4F9-F9B24CD32D87}"/>
              </a:ext>
            </a:extLst>
          </p:cNvPr>
          <p:cNvSpPr>
            <a:spLocks noGrp="1"/>
          </p:cNvSpPr>
          <p:nvPr/>
        </p:nvSpPr>
        <p:spPr>
          <a:xfrm>
            <a:off x="6305550" y="1638300"/>
            <a:ext cx="52006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2088883"/>
            <a:ext cx="5048250" cy="3156485"/>
          </a:xfrm>
          <a:prstGeom prst="roundRect">
            <a:avLst>
              <a:gd name="adj" fmla="val 2927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88FBCF-AC6A-4C3F-B01F-579A919A1767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SOURCE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B6B1C8-50A7-43A4-B0FA-7223AAEEB99A}"/>
              </a:ext>
            </a:extLst>
          </p:cNvPr>
          <p:cNvSpPr>
            <a:spLocks noGrp="1"/>
          </p:cNvSpPr>
          <p:nvPr/>
        </p:nvSpPr>
        <p:spPr>
          <a:xfrm>
            <a:off x="6572250" y="56959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LIVE APPLICATION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D69F14-98A2-4DA9-9FE8-7DF6AD9CCF98}"/>
              </a:ext>
            </a:extLst>
          </p:cNvPr>
          <p:cNvSpPr>
            <a:spLocks noGrp="1"/>
          </p:cNvSpPr>
          <p:nvPr/>
        </p:nvSpPr>
        <p:spPr>
          <a:xfrm>
            <a:off x="9810750" y="565785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8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90 spaces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1E06DB-401C-46E4-BC22-76700F24DEE6}"/>
              </a:ext>
            </a:extLst>
          </p:cNvPr>
          <p:cNvSpPr>
            <a:spLocks noGrp="1"/>
          </p:cNvSpPr>
          <p:nvPr/>
        </p:nvSpPr>
        <p:spPr>
          <a:xfrm>
            <a:off x="4095750" y="5695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Holon</a:t>
            </a:r>
          </a:p>
        </p:txBody>
      </p:sp>
    </p:spTree>
    <p:extLst>
      <p:ext uri="{BB962C8B-B14F-4D97-AF65-F5344CB8AC3E}">
        <p14:creationId xmlns:p14="http://schemas.microsoft.com/office/powerpoint/2010/main" val="519083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2E1994-DF67-4AC5-88C8-97D3A8D266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7C3A9-B2E9-4C92-96C9-0A7AC78D3FA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IMAGE-BASED PARKING LAYOUT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65E581-DFE1-486C-B8B7-81CC3142805F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Haifa Port Parking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B70C313-A474-48D9-8B76-AA90886CBD6C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F35D4-E3D4-4871-8003-E2CD82142390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F0B9EF-D197-4B94-B9BA-0D993972C2C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FB8CDF-7737-445C-8EC5-44248CDF8000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52006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8346" r="8346"/>
          <a:stretch>
            <a:fillRect/>
          </a:stretch>
        </p:blipFill>
        <p:spPr>
          <a:xfrm>
            <a:off x="590550" y="1714500"/>
            <a:ext cx="5048250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5BDD83-F2E6-48BB-94B9-078C1FA9E439}"/>
              </a:ext>
            </a:extLst>
          </p:cNvPr>
          <p:cNvSpPr>
            <a:spLocks noGrp="1"/>
          </p:cNvSpPr>
          <p:nvPr/>
        </p:nvSpPr>
        <p:spPr>
          <a:xfrm>
            <a:off x="6305550" y="1638300"/>
            <a:ext cx="52006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2088883"/>
            <a:ext cx="5048250" cy="3156485"/>
          </a:xfrm>
          <a:prstGeom prst="roundRect">
            <a:avLst>
              <a:gd name="adj" fmla="val 2927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408C91-A30D-4181-AA11-6A368DE37D91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SOURCE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3CFDC1-A860-4B5D-ABD3-DCD263277828}"/>
              </a:ext>
            </a:extLst>
          </p:cNvPr>
          <p:cNvSpPr>
            <a:spLocks noGrp="1"/>
          </p:cNvSpPr>
          <p:nvPr/>
        </p:nvSpPr>
        <p:spPr>
          <a:xfrm>
            <a:off x="6572250" y="56959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LIVE APPLICATION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4414A1-5753-480B-99CE-9480394D47C0}"/>
              </a:ext>
            </a:extLst>
          </p:cNvPr>
          <p:cNvSpPr>
            <a:spLocks noGrp="1"/>
          </p:cNvSpPr>
          <p:nvPr/>
        </p:nvSpPr>
        <p:spPr>
          <a:xfrm>
            <a:off x="9810750" y="565785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8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59 spaces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F269C4-3FFD-4F9E-90F0-32703219D560}"/>
              </a:ext>
            </a:extLst>
          </p:cNvPr>
          <p:cNvSpPr>
            <a:spLocks noGrp="1"/>
          </p:cNvSpPr>
          <p:nvPr/>
        </p:nvSpPr>
        <p:spPr>
          <a:xfrm>
            <a:off x="4095750" y="5695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Haifa</a:t>
            </a:r>
          </a:p>
        </p:txBody>
      </p:sp>
    </p:spTree>
    <p:extLst>
      <p:ext uri="{BB962C8B-B14F-4D97-AF65-F5344CB8AC3E}">
        <p14:creationId xmlns:p14="http://schemas.microsoft.com/office/powerpoint/2010/main" val="139381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572FFE0-AAC2-480C-9AFD-B7FE8B7EE4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7CBEE4-C824-419A-8405-2B998EF6524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IMAGE-BASED PARKING LAYOUT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4541F-C0B1-4651-BFE0-C38BEF4C073E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Beersheba Center Parking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2349B44-90DD-4D8D-9A5C-73DA6F088BEA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708C9-0071-432C-9A82-8B33566409B6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7EC6CA-EF58-47F8-9343-FAD95B52B32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27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21B683-1D89-403B-87CF-FB523FADBA15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52006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3032" r="3032"/>
          <a:stretch>
            <a:fillRect/>
          </a:stretch>
        </p:blipFill>
        <p:spPr>
          <a:xfrm>
            <a:off x="590550" y="1714500"/>
            <a:ext cx="5048250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6BFE60-5466-4122-9287-66892023A22F}"/>
              </a:ext>
            </a:extLst>
          </p:cNvPr>
          <p:cNvSpPr>
            <a:spLocks noGrp="1"/>
          </p:cNvSpPr>
          <p:nvPr/>
        </p:nvSpPr>
        <p:spPr>
          <a:xfrm>
            <a:off x="6305550" y="1638300"/>
            <a:ext cx="52006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2088883"/>
            <a:ext cx="5048250" cy="3156485"/>
          </a:xfrm>
          <a:prstGeom prst="roundRect">
            <a:avLst>
              <a:gd name="adj" fmla="val 2927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9D00D5-D642-4DF9-8745-5D5143CEB77A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5E6E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E6E7E"/>
                </a:solidFill>
                <a:latin typeface="Arial"/>
                <a:ea typeface="Arial"/>
                <a:cs typeface="Arial"/>
              </a:rPr>
              <a:t>SOURCE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741AF-5392-46D2-A37F-1C4BDFACDA04}"/>
              </a:ext>
            </a:extLst>
          </p:cNvPr>
          <p:cNvSpPr>
            <a:spLocks noGrp="1"/>
          </p:cNvSpPr>
          <p:nvPr/>
        </p:nvSpPr>
        <p:spPr>
          <a:xfrm>
            <a:off x="6572250" y="56959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LIVE APPLICATION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3AB1E3-2FE5-4F1F-8A89-FB78C2F35B97}"/>
              </a:ext>
            </a:extLst>
          </p:cNvPr>
          <p:cNvSpPr>
            <a:spLocks noGrp="1"/>
          </p:cNvSpPr>
          <p:nvPr/>
        </p:nvSpPr>
        <p:spPr>
          <a:xfrm>
            <a:off x="9810750" y="565785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8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78 spaces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7EB778-EB80-4BEB-8409-CD696B082757}"/>
              </a:ext>
            </a:extLst>
          </p:cNvPr>
          <p:cNvSpPr>
            <a:spLocks noGrp="1"/>
          </p:cNvSpPr>
          <p:nvPr/>
        </p:nvSpPr>
        <p:spPr>
          <a:xfrm>
            <a:off x="4095750" y="5695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Beersheba</a:t>
            </a:r>
          </a:p>
        </p:txBody>
      </p:sp>
    </p:spTree>
    <p:extLst>
      <p:ext uri="{BB962C8B-B14F-4D97-AF65-F5344CB8AC3E}">
        <p14:creationId xmlns:p14="http://schemas.microsoft.com/office/powerpoint/2010/main" val="1499250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SCALABLE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Generic Dynamic Layout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Custom images are optional — every new lot can be managed immediately through the generic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92024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802636"/>
            <a:ext cx="146304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00" b="1" dirty="0">
                <a:solidFill>
                  <a:srgbClr val="0C2340"/>
                </a:solidFill>
                <a:latin typeface="Aptos"/>
              </a:rPr>
              <a:t>Parking lot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240280"/>
            <a:ext cx="2788920" cy="1508760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20540" y="2286762"/>
            <a:ext cx="1463040" cy="274320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540" y="2314193"/>
            <a:ext cx="146304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>
                <a:solidFill>
                  <a:srgbClr val="346BFF"/>
                </a:solidFill>
                <a:latin typeface="Aptos"/>
              </a:rPr>
              <a:t>GENERIC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3329" y="2647591"/>
            <a:ext cx="2537461" cy="2841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680" b="1" dirty="0">
                <a:solidFill>
                  <a:srgbClr val="FFFFFF"/>
                </a:solidFill>
                <a:latin typeface="Aptos"/>
              </a:rPr>
              <a:t>Dynamic</a:t>
            </a:r>
            <a:r>
              <a:rPr lang="en-US" sz="168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80" b="1" dirty="0">
                <a:solidFill>
                  <a:srgbClr val="FFFFFF"/>
                </a:solidFill>
                <a:latin typeface="Aptos"/>
              </a:rPr>
              <a:t>Parking</a:t>
            </a:r>
            <a:r>
              <a:rPr lang="en-US" sz="168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80" b="1" dirty="0">
                <a:solidFill>
                  <a:srgbClr val="FFFFFF"/>
                </a:solidFill>
                <a:latin typeface="Aptos"/>
              </a:rPr>
              <a:t>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3072383"/>
            <a:ext cx="214884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60" b="0" dirty="0">
                <a:solidFill>
                  <a:srgbClr val="FFFFFF"/>
                </a:solidFill>
                <a:latin typeface="Aptos"/>
              </a:rPr>
              <a:t>Levels + spot numbers + spot types → dynamic grid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468880"/>
            <a:ext cx="210312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0950" y="2720340"/>
            <a:ext cx="150876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60" b="1" dirty="0">
                <a:solidFill>
                  <a:srgbClr val="0C2340"/>
                </a:solidFill>
                <a:latin typeface="Aptos"/>
              </a:rPr>
              <a:t>Interactive management</a:t>
            </a:r>
          </a:p>
        </p:txBody>
      </p:sp>
      <p:cxnSp>
        <p:nvCxnSpPr>
          <p:cNvPr id="22" name="Connector 21"/>
          <p:cNvCxnSpPr>
            <a:cxnSpLocks/>
            <a:stCxn id="9" idx="3"/>
            <a:endCxn id="13" idx="1"/>
          </p:cNvCxnSpPr>
          <p:nvPr/>
        </p:nvCxnSpPr>
        <p:spPr>
          <a:xfrm>
            <a:off x="2788920" y="2994660"/>
            <a:ext cx="868680" cy="0"/>
          </a:xfrm>
          <a:prstGeom prst="line">
            <a:avLst/>
          </a:prstGeom>
          <a:ln w="2540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3" idx="3"/>
            <a:endCxn id="18" idx="1"/>
          </p:cNvCxnSpPr>
          <p:nvPr/>
        </p:nvCxnSpPr>
        <p:spPr>
          <a:xfrm>
            <a:off x="6446520" y="2994660"/>
            <a:ext cx="960120" cy="0"/>
          </a:xfrm>
          <a:prstGeom prst="line">
            <a:avLst/>
          </a:prstGeom>
          <a:ln w="2540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8680" y="4251960"/>
            <a:ext cx="4114800" cy="105156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97280" y="4407408"/>
            <a:ext cx="8229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434840"/>
            <a:ext cx="82296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1">
                <a:solidFill>
                  <a:srgbClr val="1DB5A8"/>
                </a:solidFill>
                <a:latin typeface="Aptos"/>
              </a:rPr>
              <a:t>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3140" y="4489704"/>
            <a:ext cx="2697480" cy="32918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1" dirty="0">
                <a:solidFill>
                  <a:srgbClr val="1DB5A8"/>
                </a:solidFill>
                <a:latin typeface="Aptos"/>
              </a:rPr>
              <a:t>Every lot is supported immediately.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4251960"/>
            <a:ext cx="5029200" cy="1051560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715000" y="4407408"/>
            <a:ext cx="14173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15000" y="4434840"/>
            <a:ext cx="14173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80" b="1">
                <a:solidFill>
                  <a:srgbClr val="346BFF"/>
                </a:solidFill>
                <a:latin typeface="Aptos"/>
              </a:rPr>
              <a:t>ENHANCEMENT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425696"/>
            <a:ext cx="2971800" cy="3840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40" b="1" dirty="0">
                <a:solidFill>
                  <a:srgbClr val="346BFF"/>
                </a:solidFill>
                <a:latin typeface="Aptos"/>
              </a:rPr>
              <a:t>Add a photo + layout config later for a site-specific visual map.</a:t>
            </a:r>
          </a:p>
        </p:txBody>
      </p:sp>
      <p:cxnSp>
        <p:nvCxnSpPr>
          <p:cNvPr id="32" name="Connector 31"/>
          <p:cNvCxnSpPr>
            <a:cxnSpLocks/>
            <a:stCxn id="13" idx="2"/>
          </p:cNvCxnSpPr>
          <p:nvPr/>
        </p:nvCxnSpPr>
        <p:spPr>
          <a:xfrm>
            <a:off x="5052060" y="3749040"/>
            <a:ext cx="891540" cy="502920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972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REAL-TIME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LoRa Sensor Data 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Sensor events travel through validation and domain logic before the server persists and broadcasts the new state.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3154680"/>
            <a:ext cx="9144000" cy="0"/>
          </a:xfrm>
          <a:prstGeom prst="line">
            <a:avLst/>
          </a:prstGeom>
          <a:ln w="381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95528" y="2807208"/>
            <a:ext cx="694944" cy="694944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990088"/>
            <a:ext cx="420624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3657600"/>
            <a:ext cx="131673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3822191"/>
            <a:ext cx="1133856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Sensor /</a:t>
            </a:r>
          </a:p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simulator</a:t>
            </a:r>
          </a:p>
        </p:txBody>
      </p:sp>
      <p:sp>
        <p:nvSpPr>
          <p:cNvPr id="14" name="Oval 13"/>
          <p:cNvSpPr/>
          <p:nvPr/>
        </p:nvSpPr>
        <p:spPr>
          <a:xfrm>
            <a:off x="2624328" y="2807208"/>
            <a:ext cx="694944" cy="694944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1488" y="2990088"/>
            <a:ext cx="420624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13432" y="3657600"/>
            <a:ext cx="131673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04872" y="3822191"/>
            <a:ext cx="1133856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LoRa API</a:t>
            </a:r>
          </a:p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request</a:t>
            </a:r>
          </a:p>
        </p:txBody>
      </p:sp>
      <p:sp>
        <p:nvSpPr>
          <p:cNvPr id="18" name="Oval 17"/>
          <p:cNvSpPr/>
          <p:nvPr/>
        </p:nvSpPr>
        <p:spPr>
          <a:xfrm>
            <a:off x="4453128" y="2807208"/>
            <a:ext cx="694944" cy="694944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990088"/>
            <a:ext cx="420624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42232" y="3657600"/>
            <a:ext cx="131673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33672" y="3822191"/>
            <a:ext cx="1133856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Validate &amp;</a:t>
            </a:r>
          </a:p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map</a:t>
            </a:r>
          </a:p>
        </p:txBody>
      </p:sp>
      <p:sp>
        <p:nvSpPr>
          <p:cNvPr id="22" name="Oval 21"/>
          <p:cNvSpPr/>
          <p:nvPr/>
        </p:nvSpPr>
        <p:spPr>
          <a:xfrm>
            <a:off x="6281928" y="2807208"/>
            <a:ext cx="694944" cy="694944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2990088"/>
            <a:ext cx="420624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71032" y="3657600"/>
            <a:ext cx="131673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62472" y="3822191"/>
            <a:ext cx="1133856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Parking</a:t>
            </a:r>
          </a:p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service</a:t>
            </a:r>
          </a:p>
        </p:txBody>
      </p:sp>
      <p:sp>
        <p:nvSpPr>
          <p:cNvPr id="26" name="Oval 25"/>
          <p:cNvSpPr/>
          <p:nvPr/>
        </p:nvSpPr>
        <p:spPr>
          <a:xfrm>
            <a:off x="8110727" y="2807208"/>
            <a:ext cx="694944" cy="694944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2990088"/>
            <a:ext cx="420624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9831" y="3657600"/>
            <a:ext cx="131673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91272" y="3822191"/>
            <a:ext cx="1133856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MongoDB</a:t>
            </a:r>
          </a:p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persist</a:t>
            </a:r>
          </a:p>
        </p:txBody>
      </p:sp>
      <p:sp>
        <p:nvSpPr>
          <p:cNvPr id="30" name="Oval 29"/>
          <p:cNvSpPr/>
          <p:nvPr/>
        </p:nvSpPr>
        <p:spPr>
          <a:xfrm>
            <a:off x="9939528" y="2807208"/>
            <a:ext cx="694944" cy="694944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76688" y="2990088"/>
            <a:ext cx="420624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28632" y="3657600"/>
            <a:ext cx="1316736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0072" y="3822191"/>
            <a:ext cx="1133856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Socket.IO</a:t>
            </a:r>
          </a:p>
          <a:p>
            <a:pPr algn="ctr"/>
            <a:r>
              <a:rPr sz="1180" b="1">
                <a:solidFill>
                  <a:srgbClr val="0C2340"/>
                </a:solidFill>
                <a:latin typeface="Aptos"/>
              </a:rPr>
              <a:t>broadcast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892040"/>
            <a:ext cx="8412480" cy="502920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48840" y="5038344"/>
            <a:ext cx="7955279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SERVER = SOURCE OF TRUTH  •  update database first, then notify connected clients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559552"/>
            <a:ext cx="8412480" cy="456535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00" b="0" dirty="0">
                <a:solidFill>
                  <a:srgbClr val="5E7185"/>
                </a:solidFill>
                <a:latin typeface="Aptos"/>
              </a:rPr>
              <a:t>Sensor events can update free/occupied state, while entry and exit events connect physical activity to a parking session.</a:t>
            </a:r>
          </a:p>
        </p:txBody>
      </p:sp>
    </p:spTree>
    <p:extLst>
      <p:ext uri="{BB962C8B-B14F-4D97-AF65-F5344CB8AC3E}">
        <p14:creationId xmlns:p14="http://schemas.microsoft.com/office/powerpoint/2010/main" val="1239013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B5A8"/>
                </a:solidFill>
                <a:latin typeface="Aptos"/>
              </a:rPr>
              <a:t>LIVE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C2340"/>
                </a:solidFill>
                <a:latin typeface="Aptos"/>
              </a:rPr>
              <a:t>Socket.IO Real-Time 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69880" cy="4114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30" b="0">
                <a:solidFill>
                  <a:srgbClr val="5E7185"/>
                </a:solidFill>
                <a:latin typeface="Aptos"/>
              </a:rPr>
              <a:t>Socket.IO distributes updates through two audience types: public city rooms and private authenticated user rooms.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331720" cy="1572768"/>
          </a:xfrm>
          <a:prstGeom prst="roundRect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2048256" cy="43891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EXPRESS +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SOCKET.IO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36976"/>
            <a:ext cx="2048256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server emits domain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148840"/>
            <a:ext cx="2423160" cy="1078992"/>
          </a:xfrm>
          <a:prstGeom prst="roundRect">
            <a:avLst/>
          </a:prstGeom>
          <a:solidFill>
            <a:srgbClr val="DFF3EE"/>
          </a:solidFill>
          <a:ln w="22860">
            <a:solidFill>
              <a:srgbClr val="1DB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1336" y="2185416"/>
            <a:ext cx="841248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10" b="1" dirty="0">
                <a:solidFill>
                  <a:srgbClr val="1DB5A8"/>
                </a:solidFill>
                <a:latin typeface="Aptos"/>
              </a:rPr>
              <a:t>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395728"/>
            <a:ext cx="2057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CITY 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706624"/>
            <a:ext cx="205740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40" b="0">
                <a:solidFill>
                  <a:srgbClr val="5E7185"/>
                </a:solidFill>
                <a:latin typeface="Aptos"/>
              </a:rPr>
              <a:t>availability by 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3749039"/>
            <a:ext cx="2423160" cy="1078992"/>
          </a:xfrm>
          <a:prstGeom prst="roundRect">
            <a:avLst/>
          </a:prstGeom>
          <a:solidFill>
            <a:srgbClr val="E9F0F6"/>
          </a:solidFill>
          <a:ln w="22860">
            <a:solidFill>
              <a:srgbClr val="34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03904" y="3799332"/>
            <a:ext cx="896112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10" b="1">
                <a:solidFill>
                  <a:srgbClr val="346BFF"/>
                </a:solidFill>
                <a:latin typeface="Aptos"/>
              </a:rPr>
              <a:t>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995928"/>
            <a:ext cx="20574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USER ROOMS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306824"/>
            <a:ext cx="2057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10" b="0">
                <a:solidFill>
                  <a:srgbClr val="5E7185"/>
                </a:solidFill>
                <a:latin typeface="Aptos"/>
              </a:rPr>
              <a:t>session updates per</a:t>
            </a:r>
          </a:p>
          <a:p>
            <a:pPr algn="ctr"/>
            <a:r>
              <a:rPr sz="1210" b="0">
                <a:solidFill>
                  <a:srgbClr val="5E7185"/>
                </a:solidFill>
                <a:latin typeface="Aptos"/>
              </a:rPr>
              <a:t>authenticated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148840"/>
            <a:ext cx="24231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2377440"/>
            <a:ext cx="1993392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760" b="1">
                <a:solidFill>
                  <a:srgbClr val="0C2340"/>
                </a:solidFill>
                <a:latin typeface="Aptos"/>
              </a:rPr>
              <a:t>PUBLIC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697480"/>
            <a:ext cx="2029968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10" b="0">
                <a:solidFill>
                  <a:srgbClr val="5E7185"/>
                </a:solidFill>
                <a:latin typeface="Aptos"/>
              </a:rPr>
              <a:t>home, city map, lot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749039"/>
            <a:ext cx="24231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65592" y="3913632"/>
            <a:ext cx="2075688" cy="40233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620" b="1">
                <a:solidFill>
                  <a:srgbClr val="0C2340"/>
                </a:solidFill>
                <a:latin typeface="Aptos"/>
              </a:rPr>
              <a:t>MANAGER /</a:t>
            </a:r>
          </a:p>
          <a:p>
            <a:pPr algn="ctr"/>
            <a:r>
              <a:rPr sz="1620" b="1">
                <a:solidFill>
                  <a:srgbClr val="0C2340"/>
                </a:solidFill>
                <a:latin typeface="Aptos"/>
              </a:rPr>
              <a:t>AUTH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4407408"/>
            <a:ext cx="2029968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10" b="0">
                <a:solidFill>
                  <a:srgbClr val="5E7185"/>
                </a:solidFill>
                <a:latin typeface="Aptos"/>
              </a:rPr>
              <a:t>dashboard and private flows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108960" y="2688336"/>
            <a:ext cx="777240" cy="91440"/>
          </a:xfrm>
          <a:prstGeom prst="line">
            <a:avLst/>
          </a:prstGeom>
          <a:ln w="2667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08960" y="3328416"/>
            <a:ext cx="777240" cy="969264"/>
          </a:xfrm>
          <a:prstGeom prst="line">
            <a:avLst/>
          </a:prstGeom>
          <a:ln w="2667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12" idx="3"/>
            <a:endCxn id="22" idx="1"/>
          </p:cNvCxnSpPr>
          <p:nvPr/>
        </p:nvCxnSpPr>
        <p:spPr>
          <a:xfrm>
            <a:off x="6309360" y="2688336"/>
            <a:ext cx="1691640" cy="0"/>
          </a:xfrm>
          <a:prstGeom prst="line">
            <a:avLst/>
          </a:prstGeom>
          <a:ln w="2667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stCxn id="17" idx="3"/>
            <a:endCxn id="25" idx="1"/>
          </p:cNvCxnSpPr>
          <p:nvPr/>
        </p:nvCxnSpPr>
        <p:spPr>
          <a:xfrm>
            <a:off x="6309360" y="4288535"/>
            <a:ext cx="1691640" cy="0"/>
          </a:xfrm>
          <a:prstGeom prst="line">
            <a:avLst/>
          </a:prstGeom>
          <a:ln w="2667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400" y="5230368"/>
            <a:ext cx="4663440" cy="64008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0704" y="5376672"/>
            <a:ext cx="4370832" cy="23774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00" b="1">
                <a:solidFill>
                  <a:srgbClr val="1DB5A8"/>
                </a:solidFill>
                <a:latin typeface="Aptos"/>
              </a:rPr>
              <a:t>City rooms broadcast only non-sensitive lot and space availability updates.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06440" y="5230368"/>
            <a:ext cx="4663440" cy="64008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61888" y="5340096"/>
            <a:ext cx="4352544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80" b="1">
                <a:solidFill>
                  <a:srgbClr val="E95A53"/>
                </a:solidFill>
                <a:latin typeface="Aptos"/>
              </a:rPr>
              <a:t>User rooms carry authenticated payment and session details to the correct signed-in client.</a:t>
            </a:r>
          </a:p>
        </p:txBody>
      </p:sp>
    </p:spTree>
    <p:extLst>
      <p:ext uri="{BB962C8B-B14F-4D97-AF65-F5344CB8AC3E}">
        <p14:creationId xmlns:p14="http://schemas.microsoft.com/office/powerpoint/2010/main" val="1652991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STATE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Parking Session Lifecycle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ParkingSession moves through a repeatable lifecycle from entry to payment, exit and eventual closure or restart.</a:t>
            </a:r>
          </a:p>
        </p:txBody>
      </p:sp>
      <p:sp>
        <p:nvSpPr>
          <p:cNvPr id="9" name="Oval 8"/>
          <p:cNvSpPr/>
          <p:nvPr/>
        </p:nvSpPr>
        <p:spPr>
          <a:xfrm>
            <a:off x="5234940" y="3040380"/>
            <a:ext cx="1508760" cy="1508760"/>
          </a:xfrm>
          <a:prstGeom prst="ellipse">
            <a:avLst/>
          </a:prstGeom>
          <a:solidFill>
            <a:srgbClr val="07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4104" y="3493008"/>
            <a:ext cx="1170432" cy="23774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00" b="1">
                <a:solidFill>
                  <a:srgbClr val="1DB5A8"/>
                </a:solidFill>
                <a:latin typeface="Aptos"/>
              </a:rPr>
              <a:t>PARKING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3822191"/>
            <a:ext cx="1170432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ptos"/>
              </a:rPr>
              <a:t>SESSION</a:t>
            </a:r>
          </a:p>
        </p:txBody>
      </p:sp>
      <p:sp>
        <p:nvSpPr>
          <p:cNvPr id="12" name="Oval 11"/>
          <p:cNvSpPr/>
          <p:nvPr/>
        </p:nvSpPr>
        <p:spPr>
          <a:xfrm>
            <a:off x="5596128" y="1938527"/>
            <a:ext cx="786384" cy="786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B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70448" y="1984248"/>
            <a:ext cx="237744" cy="237744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70448" y="1993391"/>
            <a:ext cx="237744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4" y="2304288"/>
            <a:ext cx="713232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>
                <a:solidFill>
                  <a:srgbClr val="0C2340"/>
                </a:solidFill>
                <a:latin typeface="Aptos"/>
              </a:rPr>
              <a:t>ENTRY</a:t>
            </a:r>
          </a:p>
        </p:txBody>
      </p:sp>
      <p:sp>
        <p:nvSpPr>
          <p:cNvPr id="16" name="Oval 15"/>
          <p:cNvSpPr/>
          <p:nvPr/>
        </p:nvSpPr>
        <p:spPr>
          <a:xfrm>
            <a:off x="7607808" y="2487168"/>
            <a:ext cx="786384" cy="786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4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82127" y="2532888"/>
            <a:ext cx="237744" cy="237744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7" y="2542032"/>
            <a:ext cx="237744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2852928"/>
            <a:ext cx="713232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>
                <a:solidFill>
                  <a:srgbClr val="0C2340"/>
                </a:solidFill>
                <a:latin typeface="Aptos"/>
              </a:rPr>
              <a:t>ACTIVE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3995928"/>
            <a:ext cx="786384" cy="786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A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4041648"/>
            <a:ext cx="237744" cy="237744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4050791"/>
            <a:ext cx="237744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61688"/>
            <a:ext cx="713232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>
                <a:solidFill>
                  <a:srgbClr val="0C2340"/>
                </a:solidFill>
                <a:latin typeface="Aptos"/>
              </a:rPr>
              <a:t>AMOUNT</a:t>
            </a:r>
          </a:p>
          <a:p>
            <a:pPr algn="ctr"/>
            <a:r>
              <a:rPr sz="1120" b="1">
                <a:solidFill>
                  <a:srgbClr val="0C2340"/>
                </a:solidFill>
                <a:latin typeface="Aptos"/>
              </a:rPr>
              <a:t>DUE</a:t>
            </a:r>
          </a:p>
        </p:txBody>
      </p:sp>
      <p:sp>
        <p:nvSpPr>
          <p:cNvPr id="24" name="Oval 23"/>
          <p:cNvSpPr/>
          <p:nvPr/>
        </p:nvSpPr>
        <p:spPr>
          <a:xfrm>
            <a:off x="5596128" y="4892040"/>
            <a:ext cx="786384" cy="786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B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870448" y="4937760"/>
            <a:ext cx="237744" cy="237744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70448" y="4946904"/>
            <a:ext cx="237744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2704" y="5257800"/>
            <a:ext cx="713232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>
                <a:solidFill>
                  <a:srgbClr val="0C2340"/>
                </a:solidFill>
                <a:latin typeface="Aptos"/>
              </a:rPr>
              <a:t>PAID</a:t>
            </a:r>
          </a:p>
        </p:txBody>
      </p:sp>
      <p:sp>
        <p:nvSpPr>
          <p:cNvPr id="28" name="Oval 27"/>
          <p:cNvSpPr/>
          <p:nvPr/>
        </p:nvSpPr>
        <p:spPr>
          <a:xfrm>
            <a:off x="3264408" y="3995928"/>
            <a:ext cx="786384" cy="786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4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538728" y="4041648"/>
            <a:ext cx="237744" cy="237744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38728" y="4050791"/>
            <a:ext cx="237744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0984" y="4361688"/>
            <a:ext cx="713232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>
                <a:solidFill>
                  <a:srgbClr val="0C2340"/>
                </a:solidFill>
                <a:latin typeface="Aptos"/>
              </a:rPr>
              <a:t>15-MIN</a:t>
            </a:r>
          </a:p>
          <a:p>
            <a:pPr algn="ctr"/>
            <a:r>
              <a:rPr sz="1120" b="1">
                <a:solidFill>
                  <a:srgbClr val="0C2340"/>
                </a:solidFill>
                <a:latin typeface="Aptos"/>
              </a:rPr>
              <a:t>EXIT</a:t>
            </a:r>
          </a:p>
        </p:txBody>
      </p:sp>
      <p:sp>
        <p:nvSpPr>
          <p:cNvPr id="32" name="Oval 31"/>
          <p:cNvSpPr/>
          <p:nvPr/>
        </p:nvSpPr>
        <p:spPr>
          <a:xfrm>
            <a:off x="3611879" y="2487168"/>
            <a:ext cx="786384" cy="78638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A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886200" y="2532888"/>
            <a:ext cx="237744" cy="237744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86200" y="2542032"/>
            <a:ext cx="237744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7" y="2798456"/>
            <a:ext cx="713232" cy="37035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20" b="1" dirty="0">
                <a:solidFill>
                  <a:srgbClr val="0C2340"/>
                </a:solidFill>
                <a:latin typeface="Aptos"/>
              </a:rPr>
              <a:t>CLOSED /</a:t>
            </a:r>
          </a:p>
          <a:p>
            <a:pPr algn="ctr"/>
            <a:r>
              <a:rPr sz="1120" b="1" dirty="0">
                <a:solidFill>
                  <a:srgbClr val="0C2340"/>
                </a:solidFill>
                <a:latin typeface="Aptos"/>
              </a:rPr>
              <a:t>RESTART</a:t>
            </a:r>
          </a:p>
        </p:txBody>
      </p:sp>
      <p:cxnSp>
        <p:nvCxnSpPr>
          <p:cNvPr id="36" name="Connector 35"/>
          <p:cNvCxnSpPr>
            <a:cxnSpLocks/>
            <a:stCxn id="12" idx="6"/>
            <a:endCxn id="16" idx="1"/>
          </p:cNvCxnSpPr>
          <p:nvPr/>
        </p:nvCxnSpPr>
        <p:spPr>
          <a:xfrm>
            <a:off x="6382512" y="2331719"/>
            <a:ext cx="1340459" cy="270612"/>
          </a:xfrm>
          <a:prstGeom prst="line">
            <a:avLst/>
          </a:prstGeom>
          <a:ln w="1778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16" idx="5"/>
            <a:endCxn id="20" idx="0"/>
          </p:cNvCxnSpPr>
          <p:nvPr/>
        </p:nvCxnSpPr>
        <p:spPr>
          <a:xfrm>
            <a:off x="8279029" y="3158389"/>
            <a:ext cx="87731" cy="837539"/>
          </a:xfrm>
          <a:prstGeom prst="line">
            <a:avLst/>
          </a:prstGeom>
          <a:ln w="1778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20" idx="3"/>
            <a:endCxn id="24" idx="6"/>
          </p:cNvCxnSpPr>
          <p:nvPr/>
        </p:nvCxnSpPr>
        <p:spPr>
          <a:xfrm flipH="1">
            <a:off x="6382512" y="4667149"/>
            <a:ext cx="1706219" cy="618083"/>
          </a:xfrm>
          <a:prstGeom prst="line">
            <a:avLst/>
          </a:prstGeom>
          <a:ln w="1778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stCxn id="24" idx="2"/>
            <a:endCxn id="28" idx="5"/>
          </p:cNvCxnSpPr>
          <p:nvPr/>
        </p:nvCxnSpPr>
        <p:spPr>
          <a:xfrm flipH="1" flipV="1">
            <a:off x="3935629" y="4667149"/>
            <a:ext cx="1660499" cy="618083"/>
          </a:xfrm>
          <a:prstGeom prst="line">
            <a:avLst/>
          </a:prstGeom>
          <a:ln w="1778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28" idx="0"/>
            <a:endCxn id="32" idx="3"/>
          </p:cNvCxnSpPr>
          <p:nvPr/>
        </p:nvCxnSpPr>
        <p:spPr>
          <a:xfrm flipV="1">
            <a:off x="3657600" y="3158389"/>
            <a:ext cx="69442" cy="837539"/>
          </a:xfrm>
          <a:prstGeom prst="line">
            <a:avLst/>
          </a:prstGeom>
          <a:ln w="1778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cxnSpLocks/>
            <a:stCxn id="32" idx="7"/>
            <a:endCxn id="12" idx="2"/>
          </p:cNvCxnSpPr>
          <p:nvPr/>
        </p:nvCxnSpPr>
        <p:spPr>
          <a:xfrm flipV="1">
            <a:off x="4283100" y="2331719"/>
            <a:ext cx="1313028" cy="270612"/>
          </a:xfrm>
          <a:prstGeom prst="line">
            <a:avLst/>
          </a:prstGeom>
          <a:ln w="1778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77240" y="5074920"/>
            <a:ext cx="242316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77824" y="5148072"/>
            <a:ext cx="82296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7824" y="5175504"/>
            <a:ext cx="822960" cy="1554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70" b="1" dirty="0">
                <a:solidFill>
                  <a:srgbClr val="1DB5A8"/>
                </a:solidFill>
                <a:latin typeface="Aptos"/>
              </a:rPr>
              <a:t>KEY FIELDS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693" y="5449824"/>
            <a:ext cx="196596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80" b="1" dirty="0">
                <a:solidFill>
                  <a:srgbClr val="0C2340"/>
                </a:solidFill>
                <a:latin typeface="Aptos"/>
              </a:rPr>
              <a:t>Plate • lot • timestamps •</a:t>
            </a:r>
          </a:p>
          <a:p>
            <a:pPr algn="ctr"/>
            <a:r>
              <a:rPr sz="1180" b="1" dirty="0">
                <a:solidFill>
                  <a:srgbClr val="0C2340"/>
                </a:solidFill>
                <a:latin typeface="Aptos"/>
              </a:rPr>
              <a:t>payment state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23376" y="5074920"/>
            <a:ext cx="2691384" cy="1002030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778240" y="5148072"/>
            <a:ext cx="9601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78240" y="5175504"/>
            <a:ext cx="960120" cy="1554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1" dirty="0">
                <a:solidFill>
                  <a:srgbClr val="346BFF"/>
                </a:solidFill>
                <a:latin typeface="Aptos"/>
              </a:rPr>
              <a:t>BILLING RULE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468112"/>
            <a:ext cx="2468880" cy="37343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30" b="1" dirty="0">
                <a:solidFill>
                  <a:srgbClr val="346BFF"/>
                </a:solidFill>
                <a:latin typeface="Aptos"/>
              </a:rPr>
              <a:t>After the exit window, debt can begin</a:t>
            </a:r>
          </a:p>
          <a:p>
            <a:pPr algn="ctr"/>
            <a:r>
              <a:rPr sz="1130" b="1" dirty="0">
                <a:solidFill>
                  <a:srgbClr val="346BFF"/>
                </a:solidFill>
                <a:latin typeface="Aptos"/>
              </a:rPr>
              <a:t>accumulating again.</a:t>
            </a:r>
          </a:p>
        </p:txBody>
      </p:sp>
    </p:spTree>
    <p:extLst>
      <p:ext uri="{BB962C8B-B14F-4D97-AF65-F5344CB8AC3E}">
        <p14:creationId xmlns:p14="http://schemas.microsoft.com/office/powerpoint/2010/main" val="105780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ACFDD8A-9C8E-4CE6-BAB4-D1F285D494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DEA12-1B56-43D0-96BB-E17115177B3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PAYMENT ENTRY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DF6FE-1125-41E7-9A1F-778007498F5E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License Plate &amp; Debt Lookup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F99C322-72A2-43AB-8D2D-6BCD2EDB25BC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C0545-0437-4513-A2B2-71011666AF8B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F1166-752D-423F-AD95-7438A37C873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32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C519D2-8F4B-498C-A74F-012208A5419A}"/>
              </a:ext>
            </a:extLst>
          </p:cNvPr>
          <p:cNvSpPr>
            <a:spLocks noGrp="1"/>
          </p:cNvSpPr>
          <p:nvPr/>
        </p:nvSpPr>
        <p:spPr>
          <a:xfrm>
            <a:off x="6019800" y="1600200"/>
            <a:ext cx="5438775" cy="415290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0" y="2024658"/>
            <a:ext cx="5286375" cy="3303984"/>
          </a:xfrm>
          <a:prstGeom prst="roundRect">
            <a:avLst>
              <a:gd name="adj" fmla="val 2857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D63898-A895-45F2-B09D-C32982F8688B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667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One input starts the payment 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69908E-DD4F-4871-8087-2C3494538E28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476250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Find the current parking session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Return lot, duration and server-calculated debt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Return the exit countdown when already paid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Return no charge for active exemptions or free-time rules</a:t>
            </a:r>
          </a:p>
        </p:txBody>
      </p:sp>
    </p:spTree>
    <p:extLst>
      <p:ext uri="{BB962C8B-B14F-4D97-AF65-F5344CB8AC3E}">
        <p14:creationId xmlns:p14="http://schemas.microsoft.com/office/powerpoint/2010/main" val="346372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EXTERNAL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PayPal Checkout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Checkout is coordinated by the backend, with PayPal approval in the middle and reliability controls around the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96012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9601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1">
                <a:solidFill>
                  <a:srgbClr val="1DB5A8"/>
                </a:solidFill>
                <a:latin typeface="Aptos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057400"/>
            <a:ext cx="960120" cy="274320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2084831"/>
            <a:ext cx="9601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1">
                <a:solidFill>
                  <a:srgbClr val="346BFF"/>
                </a:solidFill>
                <a:latin typeface="Aptos"/>
              </a:rPr>
              <a:t>PAYPAL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057400"/>
            <a:ext cx="96012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084831"/>
            <a:ext cx="9601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1">
                <a:solidFill>
                  <a:srgbClr val="1DB5A8"/>
                </a:solidFill>
                <a:latin typeface="Apto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2606040"/>
            <a:ext cx="1316736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2606040"/>
            <a:ext cx="274320" cy="274320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624328"/>
            <a:ext cx="274320" cy="25603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109728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Create local</a:t>
            </a:r>
          </a:p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checkout</a:t>
            </a:r>
          </a:p>
        </p:txBody>
      </p:sp>
      <p:cxnSp>
        <p:nvCxnSpPr>
          <p:cNvPr id="19" name="Connector 18"/>
          <p:cNvCxnSpPr>
            <a:cxnSpLocks/>
            <a:stCxn id="15" idx="3"/>
            <a:endCxn id="20" idx="1"/>
          </p:cNvCxnSpPr>
          <p:nvPr/>
        </p:nvCxnSpPr>
        <p:spPr>
          <a:xfrm>
            <a:off x="1664208" y="3026664"/>
            <a:ext cx="512064" cy="0"/>
          </a:xfrm>
          <a:prstGeom prst="line">
            <a:avLst/>
          </a:prstGeom>
          <a:ln w="1905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76272" y="2606040"/>
            <a:ext cx="1316736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97480" y="2606040"/>
            <a:ext cx="274320" cy="274320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97480" y="2624328"/>
            <a:ext cx="274320" cy="25603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44368"/>
            <a:ext cx="109728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Create PayPal</a:t>
            </a:r>
          </a:p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order</a:t>
            </a:r>
          </a:p>
        </p:txBody>
      </p:sp>
      <p:cxnSp>
        <p:nvCxnSpPr>
          <p:cNvPr id="24" name="Connector 23"/>
          <p:cNvCxnSpPr>
            <a:cxnSpLocks/>
            <a:stCxn id="20" idx="3"/>
            <a:endCxn id="25" idx="1"/>
          </p:cNvCxnSpPr>
          <p:nvPr/>
        </p:nvCxnSpPr>
        <p:spPr>
          <a:xfrm>
            <a:off x="3493008" y="3026664"/>
            <a:ext cx="832104" cy="0"/>
          </a:xfrm>
          <a:prstGeom prst="line">
            <a:avLst/>
          </a:prstGeom>
          <a:ln w="1905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25112" y="2606040"/>
            <a:ext cx="1316736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46320" y="2606040"/>
            <a:ext cx="274320" cy="274320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2624328"/>
            <a:ext cx="274320" cy="25603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44368"/>
            <a:ext cx="109728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User</a:t>
            </a:r>
          </a:p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approval</a:t>
            </a:r>
          </a:p>
        </p:txBody>
      </p:sp>
      <p:cxnSp>
        <p:nvCxnSpPr>
          <p:cNvPr id="29" name="Connector 28"/>
          <p:cNvCxnSpPr>
            <a:cxnSpLocks/>
            <a:stCxn id="25" idx="3"/>
            <a:endCxn id="30" idx="1"/>
          </p:cNvCxnSpPr>
          <p:nvPr/>
        </p:nvCxnSpPr>
        <p:spPr>
          <a:xfrm>
            <a:off x="5641848" y="3026664"/>
            <a:ext cx="786384" cy="0"/>
          </a:xfrm>
          <a:prstGeom prst="line">
            <a:avLst/>
          </a:prstGeom>
          <a:ln w="1905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28232" y="2606040"/>
            <a:ext cx="1316736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949440" y="2606040"/>
            <a:ext cx="274320" cy="274320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0" y="2624328"/>
            <a:ext cx="274320" cy="25603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944368"/>
            <a:ext cx="109728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Capture</a:t>
            </a:r>
          </a:p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payment</a:t>
            </a:r>
          </a:p>
        </p:txBody>
      </p:sp>
      <p:cxnSp>
        <p:nvCxnSpPr>
          <p:cNvPr id="34" name="Connector 33"/>
          <p:cNvCxnSpPr>
            <a:cxnSpLocks/>
            <a:stCxn id="30" idx="3"/>
            <a:endCxn id="35" idx="1"/>
          </p:cNvCxnSpPr>
          <p:nvPr/>
        </p:nvCxnSpPr>
        <p:spPr>
          <a:xfrm>
            <a:off x="7744968" y="3026664"/>
            <a:ext cx="512063" cy="0"/>
          </a:xfrm>
          <a:prstGeom prst="line">
            <a:avLst/>
          </a:prstGeom>
          <a:ln w="1905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57031" y="2606040"/>
            <a:ext cx="1316736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78240" y="2606040"/>
            <a:ext cx="274320" cy="274320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0" y="2624328"/>
            <a:ext cx="274320" cy="25603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44368"/>
            <a:ext cx="109728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Persist</a:t>
            </a:r>
          </a:p>
          <a:p>
            <a:pPr algn="ctr"/>
            <a:r>
              <a:rPr sz="1160" b="1">
                <a:solidFill>
                  <a:srgbClr val="0C2340"/>
                </a:solidFill>
                <a:latin typeface="Aptos"/>
              </a:rPr>
              <a:t>transaction</a:t>
            </a:r>
          </a:p>
        </p:txBody>
      </p:sp>
      <p:cxnSp>
        <p:nvCxnSpPr>
          <p:cNvPr id="39" name="Connector 38"/>
          <p:cNvCxnSpPr>
            <a:cxnSpLocks/>
            <a:stCxn id="35" idx="3"/>
            <a:endCxn id="40" idx="1"/>
          </p:cNvCxnSpPr>
          <p:nvPr/>
        </p:nvCxnSpPr>
        <p:spPr>
          <a:xfrm>
            <a:off x="9573767" y="3026664"/>
            <a:ext cx="192025" cy="0"/>
          </a:xfrm>
          <a:prstGeom prst="line">
            <a:avLst/>
          </a:prstGeom>
          <a:ln w="1905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765792" y="2606040"/>
            <a:ext cx="1316736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287000" y="2606040"/>
            <a:ext cx="274320" cy="274320"/>
          </a:xfrm>
          <a:prstGeom prst="ellipse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87000" y="2624328"/>
            <a:ext cx="274320" cy="25603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2944368"/>
            <a:ext cx="1316736" cy="382669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60" b="1" dirty="0">
                <a:solidFill>
                  <a:srgbClr val="0C2340"/>
                </a:solidFill>
                <a:latin typeface="Aptos"/>
              </a:rPr>
              <a:t>Process webhook</a:t>
            </a:r>
          </a:p>
          <a:p>
            <a:pPr algn="ctr"/>
            <a:r>
              <a:rPr sz="1160" b="1" dirty="0">
                <a:solidFill>
                  <a:srgbClr val="0C2340"/>
                </a:solidFill>
                <a:latin typeface="Aptos"/>
              </a:rPr>
              <a:t>safely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114800"/>
            <a:ext cx="4663440" cy="12070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97280" y="4279392"/>
            <a:ext cx="1550670" cy="274320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7280" y="4306824"/>
            <a:ext cx="1550670" cy="187231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1" dirty="0">
                <a:solidFill>
                  <a:srgbClr val="1DB5A8"/>
                </a:solidFill>
                <a:latin typeface="Aptos"/>
              </a:rPr>
              <a:t>RELIABILITY CONTROLS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645152"/>
            <a:ext cx="4160520" cy="43891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50" b="1" dirty="0">
                <a:solidFill>
                  <a:srgbClr val="0C2340"/>
                </a:solidFill>
                <a:latin typeface="Aptos"/>
              </a:rPr>
              <a:t>Checkout identifiers • operation lock • PayPal request IDs • webhook event deduplication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89320" y="4114800"/>
            <a:ext cx="4663440" cy="1207008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165850" y="4279392"/>
            <a:ext cx="124079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4306824"/>
            <a:ext cx="118872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1">
                <a:solidFill>
                  <a:srgbClr val="346BFF"/>
                </a:solidFill>
                <a:latin typeface="Aptos"/>
              </a:rPr>
              <a:t>MONEY HANDLING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608576"/>
            <a:ext cx="40690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80" b="1">
                <a:solidFill>
                  <a:srgbClr val="346BFF"/>
                </a:solidFill>
                <a:latin typeface="Aptos"/>
              </a:rPr>
              <a:t>Amounts are stored in minor currency units to avoid floating-point rounding errors.</a:t>
            </a:r>
          </a:p>
        </p:txBody>
      </p:sp>
    </p:spTree>
    <p:extLst>
      <p:ext uri="{BB962C8B-B14F-4D97-AF65-F5344CB8AC3E}">
        <p14:creationId xmlns:p14="http://schemas.microsoft.com/office/powerpoint/2010/main" val="413326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20624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AFTER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69848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Exit Grace Period &amp; Receipt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108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42416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Payment success starts a 15-minute exit window while the receipt and final exit flow continue in parallel.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331720"/>
            <a:ext cx="2011680" cy="2011680"/>
          </a:xfrm>
          <a:prstGeom prst="ellipse">
            <a:avLst/>
          </a:prstGeom>
          <a:solidFill>
            <a:srgbClr val="071F3B"/>
          </a:solidFill>
          <a:ln w="15240">
            <a:solidFill>
              <a:srgbClr val="1DB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2907792"/>
            <a:ext cx="1408176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15:00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429000"/>
            <a:ext cx="11430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00" b="1">
                <a:solidFill>
                  <a:srgbClr val="1DB5A8"/>
                </a:solidFill>
                <a:latin typeface="Aptos"/>
              </a:rPr>
              <a:t>TIME TO EXIT</a:t>
            </a:r>
          </a:p>
        </p:txBody>
      </p:sp>
      <p:sp>
        <p:nvSpPr>
          <p:cNvPr id="12" name="Oval 11"/>
          <p:cNvSpPr/>
          <p:nvPr/>
        </p:nvSpPr>
        <p:spPr>
          <a:xfrm>
            <a:off x="4645152" y="2194560"/>
            <a:ext cx="310896" cy="310896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212848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48840"/>
            <a:ext cx="306324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5232" y="2295144"/>
            <a:ext cx="27432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10" b="1">
                <a:solidFill>
                  <a:srgbClr val="0C2340"/>
                </a:solidFill>
                <a:latin typeface="Aptos"/>
              </a:rPr>
              <a:t>Payment captured</a:t>
            </a:r>
          </a:p>
        </p:txBody>
      </p:sp>
      <p:cxnSp>
        <p:nvCxnSpPr>
          <p:cNvPr id="16" name="Connector 15"/>
          <p:cNvCxnSpPr>
            <a:cxnSpLocks/>
            <a:stCxn id="13" idx="2"/>
            <a:endCxn id="18" idx="0"/>
          </p:cNvCxnSpPr>
          <p:nvPr/>
        </p:nvCxnSpPr>
        <p:spPr>
          <a:xfrm>
            <a:off x="4800600" y="2505456"/>
            <a:ext cx="0" cy="420624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645152" y="2907792"/>
            <a:ext cx="310896" cy="310896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2926080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862072"/>
            <a:ext cx="306324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5232" y="3008376"/>
            <a:ext cx="27432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10" b="1">
                <a:solidFill>
                  <a:srgbClr val="0C2340"/>
                </a:solidFill>
                <a:latin typeface="Aptos"/>
              </a:rPr>
              <a:t>Timer shown</a:t>
            </a:r>
          </a:p>
        </p:txBody>
      </p:sp>
      <p:cxnSp>
        <p:nvCxnSpPr>
          <p:cNvPr id="21" name="Connector 20"/>
          <p:cNvCxnSpPr>
            <a:cxnSpLocks/>
            <a:stCxn id="18" idx="2"/>
            <a:endCxn id="23" idx="0"/>
          </p:cNvCxnSpPr>
          <p:nvPr/>
        </p:nvCxnSpPr>
        <p:spPr>
          <a:xfrm>
            <a:off x="4800600" y="3218688"/>
            <a:ext cx="0" cy="420624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645152" y="3621024"/>
            <a:ext cx="310896" cy="310896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3639312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575304"/>
            <a:ext cx="306324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2" y="3721608"/>
            <a:ext cx="27432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10" b="1" dirty="0">
                <a:solidFill>
                  <a:srgbClr val="0C2340"/>
                </a:solidFill>
                <a:latin typeface="Aptos"/>
              </a:rPr>
              <a:t>Receipt requested</a:t>
            </a:r>
          </a:p>
        </p:txBody>
      </p:sp>
      <p:cxnSp>
        <p:nvCxnSpPr>
          <p:cNvPr id="26" name="Connector 25"/>
          <p:cNvCxnSpPr>
            <a:cxnSpLocks/>
            <a:stCxn id="23" idx="2"/>
            <a:endCxn id="27" idx="0"/>
          </p:cNvCxnSpPr>
          <p:nvPr/>
        </p:nvCxnSpPr>
        <p:spPr>
          <a:xfrm>
            <a:off x="4800600" y="3931920"/>
            <a:ext cx="0" cy="402336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645152" y="4334256"/>
            <a:ext cx="310896" cy="310896"/>
          </a:xfrm>
          <a:prstGeom prst="ellipse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5152" y="4352544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288536"/>
            <a:ext cx="306324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85232" y="4434840"/>
            <a:ext cx="2743200" cy="22724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lvl="0"/>
            <a:r>
              <a:rPr lang="en-US" sz="1310" b="1" dirty="0">
                <a:solidFill>
                  <a:srgbClr val="0C2340"/>
                </a:solidFill>
                <a:latin typeface="Aptos"/>
              </a:rPr>
              <a:t>Email delivered via Apps Script</a:t>
            </a:r>
          </a:p>
        </p:txBody>
      </p:sp>
      <p:cxnSp>
        <p:nvCxnSpPr>
          <p:cNvPr id="31" name="Connector 30"/>
          <p:cNvCxnSpPr>
            <a:cxnSpLocks/>
            <a:stCxn id="28" idx="2"/>
            <a:endCxn id="33" idx="0"/>
          </p:cNvCxnSpPr>
          <p:nvPr/>
        </p:nvCxnSpPr>
        <p:spPr>
          <a:xfrm>
            <a:off x="4800600" y="4645152"/>
            <a:ext cx="0" cy="420624"/>
          </a:xfrm>
          <a:prstGeom prst="line">
            <a:avLst/>
          </a:prstGeom>
          <a:ln w="1651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645152" y="5047488"/>
            <a:ext cx="310896" cy="310896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45152" y="5065776"/>
            <a:ext cx="310896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5001768"/>
            <a:ext cx="306324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85232" y="5148072"/>
            <a:ext cx="27432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10" b="1">
                <a:solidFill>
                  <a:srgbClr val="0C2340"/>
                </a:solidFill>
                <a:latin typeface="Aptos"/>
              </a:rPr>
              <a:t>Vehicle exits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2286000"/>
            <a:ext cx="2514600" cy="1298448"/>
          </a:xfrm>
          <a:prstGeom prst="roundRect">
            <a:avLst/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59952" y="2542032"/>
            <a:ext cx="2103120" cy="6583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20" b="1">
                <a:solidFill>
                  <a:srgbClr val="1DB5A8"/>
                </a:solidFill>
                <a:latin typeface="Aptos"/>
              </a:rPr>
              <a:t>If the same plate is searched during the window, the countdown is shown instead of a new debt.</a:t>
            </a:r>
          </a:p>
        </p:txBody>
      </p:sp>
    </p:spTree>
    <p:extLst>
      <p:ext uri="{BB962C8B-B14F-4D97-AF65-F5344CB8AC3E}">
        <p14:creationId xmlns:p14="http://schemas.microsoft.com/office/powerpoint/2010/main" val="1559751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A09E86D-337C-410F-9119-3F8E0C346B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A1A02-9DC3-45FE-9476-9251AF92363E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TRANSPARENT PRICING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06F007-4330-43B9-90C4-8C81B8BAE30E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Central Parking Price List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9DCADC2-F4A9-4D79-88EE-106D32A7AD7E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965F30-A3B5-4BAD-B356-1B3A59091833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38BA4-8199-4F78-BF60-89962517C53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35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7DAFF9-4143-4777-8A8E-108A90723D91}"/>
              </a:ext>
            </a:extLst>
          </p:cNvPr>
          <p:cNvSpPr>
            <a:spLocks noGrp="1"/>
          </p:cNvSpPr>
          <p:nvPr/>
        </p:nvSpPr>
        <p:spPr>
          <a:xfrm>
            <a:off x="4352925" y="1485900"/>
            <a:ext cx="7153275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29125" y="1611780"/>
            <a:ext cx="7000875" cy="4377389"/>
          </a:xfrm>
          <a:prstGeom prst="roundRect">
            <a:avLst>
              <a:gd name="adj" fmla="val 2553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A4632D-35C2-4791-9715-CF97751E2D3B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31432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Live tariffs for every parking lot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City and free-text filters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Price per minute and daily cap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Free-time and special tariff condition</a:t>
            </a:r>
            <a:r>
              <a:rPr lang="en-US"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</a:t>
            </a:r>
          </a:p>
          <a:p>
            <a:pPr marL="139700"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endParaRPr lang="en-US" sz="1500" dirty="0">
              <a:solidFill>
                <a:srgbClr val="152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4B6390-B70F-4E72-8B99-CA7B606F76AA}"/>
              </a:ext>
            </a:extLst>
          </p:cNvPr>
          <p:cNvSpPr>
            <a:spLocks noGrp="1"/>
          </p:cNvSpPr>
          <p:nvPr/>
        </p:nvSpPr>
        <p:spPr>
          <a:xfrm>
            <a:off x="666750" y="533400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One public source of truth for parking prices.</a:t>
            </a:r>
          </a:p>
        </p:txBody>
      </p:sp>
    </p:spTree>
    <p:extLst>
      <p:ext uri="{BB962C8B-B14F-4D97-AF65-F5344CB8AC3E}">
        <p14:creationId xmlns:p14="http://schemas.microsoft.com/office/powerpoint/2010/main" val="1172496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9FD9BB-B10D-4B73-AFA4-8A420C2BB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3445DA-A78E-4BC7-981B-A6D01E7F7B1F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INCLUSIVE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E1261C-FE14-4DAB-BE9E-AEEDB2D3B94E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Accessibility &amp; Mobile-First Design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5080D6-446F-4108-ADEB-814B6FFAE8C6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4C38ED-E3FE-4F80-BA25-586760426EBA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DDCC9C-4413-47AD-8517-3B22564A46E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36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489897-646D-49B8-9DE1-6E9243F305B9}"/>
              </a:ext>
            </a:extLst>
          </p:cNvPr>
          <p:cNvSpPr>
            <a:spLocks noGrp="1"/>
          </p:cNvSpPr>
          <p:nvPr/>
        </p:nvSpPr>
        <p:spPr>
          <a:xfrm>
            <a:off x="6400800" y="1524000"/>
            <a:ext cx="5057775" cy="4248150"/>
          </a:xfrm>
          <a:prstGeom prst="roundRect">
            <a:avLst>
              <a:gd name="adj" fmla="val 1794"/>
            </a:avLst>
          </a:prstGeom>
          <a:solidFill>
            <a:srgbClr val="FFFFFF"/>
          </a:solidFill>
          <a:ln w="9525">
            <a:solidFill>
              <a:srgbClr val="D9E3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0D0ED5-E65B-45B0-B70F-563D5562D6B1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Designed for use on the move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CA28E3-F45D-4544-A6BC-F7C18B1465F5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495300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Mobile-first responsive layout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Large-text mode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Color-blind-safe status palette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Dark mode and visual themes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Touch-friendly controls and modals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878E42-E7E3-4FF3-DF28-F7FAA94B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498" y="2130551"/>
            <a:ext cx="4950377" cy="313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05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3891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HIGH-LEVEL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9848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16736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314553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5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50292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250" b="1">
                <a:solidFill>
                  <a:srgbClr val="346BFF"/>
                </a:solidFill>
                <a:latin typeface="Apto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51560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>
                <a:solidFill>
                  <a:srgbClr val="5E7185"/>
                </a:solidFill>
                <a:latin typeface="Aptos"/>
              </a:rPr>
              <a:t>A high-level view of how the browser, application server, data layer and external integrations work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84831"/>
            <a:ext cx="251460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84831"/>
            <a:ext cx="2514600" cy="9144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59" y="2221991"/>
            <a:ext cx="218541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30" b="1">
                <a:solidFill>
                  <a:srgbClr val="1DB5A8"/>
                </a:solidFill>
                <a:latin typeface="Aptos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96312"/>
            <a:ext cx="2185416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React Web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80360"/>
            <a:ext cx="2185416" cy="115214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Mobile / desktop browser</a:t>
            </a:r>
          </a:p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React + Vite</a:t>
            </a:r>
          </a:p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Axios REST client</a:t>
            </a:r>
          </a:p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Socket.IO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3256" y="2080769"/>
            <a:ext cx="290779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53256" y="2098547"/>
            <a:ext cx="2907792" cy="91440"/>
          </a:xfrm>
          <a:prstGeom prst="rect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59" y="2221991"/>
            <a:ext cx="2578608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30" b="1">
                <a:solidFill>
                  <a:srgbClr val="346BFF"/>
                </a:solidFill>
                <a:latin typeface="Aptos"/>
              </a:rPr>
              <a:t>APPLICATION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2496312"/>
            <a:ext cx="2578608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Node.js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2880360"/>
            <a:ext cx="2578608" cy="115214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Express REST API</a:t>
            </a:r>
          </a:p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Socket.IO server</a:t>
            </a:r>
          </a:p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Domain services</a:t>
            </a:r>
          </a:p>
          <a:p>
            <a:pPr algn="l"/>
            <a:r>
              <a:rPr sz="1350" b="0">
                <a:solidFill>
                  <a:srgbClr val="0C2340"/>
                </a:solidFill>
                <a:latin typeface="Aptos"/>
              </a:rPr>
              <a:t>Repositories</a:t>
            </a:r>
          </a:p>
        </p:txBody>
      </p:sp>
      <p:sp>
        <p:nvSpPr>
          <p:cNvPr id="19" name="Can 18"/>
          <p:cNvSpPr/>
          <p:nvPr/>
        </p:nvSpPr>
        <p:spPr>
          <a:xfrm>
            <a:off x="7840216" y="2156968"/>
            <a:ext cx="1874519" cy="1938528"/>
          </a:xfrm>
          <a:prstGeom prst="can">
            <a:avLst/>
          </a:prstGeom>
          <a:solidFill>
            <a:srgbClr val="FFFFFF"/>
          </a:solidFill>
          <a:ln w="177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9287" y="2283206"/>
            <a:ext cx="146304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30" b="1" dirty="0">
                <a:solidFill>
                  <a:srgbClr val="F2AA1F"/>
                </a:solidFill>
                <a:latin typeface="Aptos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2834640"/>
            <a:ext cx="1554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3218688"/>
            <a:ext cx="144475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20" b="0">
                <a:solidFill>
                  <a:srgbClr val="0C2340"/>
                </a:solidFill>
                <a:latin typeface="Aptos"/>
              </a:rPr>
              <a:t>Lots • spots</a:t>
            </a:r>
          </a:p>
          <a:p>
            <a:pPr algn="ctr"/>
            <a:r>
              <a:rPr sz="1320" b="0">
                <a:solidFill>
                  <a:srgbClr val="0C2340"/>
                </a:solidFill>
                <a:latin typeface="Aptos"/>
              </a:rPr>
              <a:t>sessions • payments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106" y="4548634"/>
            <a:ext cx="3679190" cy="960120"/>
          </a:xfrm>
          <a:prstGeom prst="roundRect">
            <a:avLst/>
          </a:prstGeom>
          <a:solidFill>
            <a:srgbClr val="EDF2F7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08722" y="4745230"/>
            <a:ext cx="2743200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1" dirty="0">
                <a:solidFill>
                  <a:srgbClr val="0C2340"/>
                </a:solidFill>
                <a:latin typeface="Aptos"/>
              </a:rPr>
              <a:t>EXTERNAL 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106" y="5069842"/>
            <a:ext cx="3679190" cy="22878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20" b="0" dirty="0">
                <a:solidFill>
                  <a:srgbClr val="0C2340"/>
                </a:solidFill>
                <a:latin typeface="Aptos"/>
              </a:rPr>
              <a:t>PayPal </a:t>
            </a:r>
            <a:r>
              <a:rPr lang="en-US" sz="1320" b="0" dirty="0">
                <a:solidFill>
                  <a:srgbClr val="0C2340"/>
                </a:solidFill>
                <a:latin typeface="Aptos"/>
              </a:rPr>
              <a:t>• Google Apps Script 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• OSM / Waze • LoRa</a:t>
            </a:r>
          </a:p>
        </p:txBody>
      </p:sp>
      <p:cxnSp>
        <p:nvCxnSpPr>
          <p:cNvPr id="26" name="Connector 25"/>
          <p:cNvCxnSpPr>
            <a:cxnSpLocks/>
            <a:stCxn id="9" idx="3"/>
            <a:endCxn id="14" idx="1"/>
          </p:cNvCxnSpPr>
          <p:nvPr/>
        </p:nvCxnSpPr>
        <p:spPr>
          <a:xfrm flipV="1">
            <a:off x="3172968" y="3123185"/>
            <a:ext cx="780288" cy="4062"/>
          </a:xfrm>
          <a:prstGeom prst="line">
            <a:avLst/>
          </a:prstGeom>
          <a:ln w="25400">
            <a:solidFill>
              <a:srgbClr val="1DB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21151" y="2762150"/>
            <a:ext cx="932688" cy="3518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60" b="1" dirty="0">
                <a:solidFill>
                  <a:srgbClr val="1DB5A8"/>
                </a:solidFill>
                <a:latin typeface="Aptos"/>
              </a:rPr>
              <a:t>REST / WebSocket</a:t>
            </a:r>
          </a:p>
        </p:txBody>
      </p:sp>
      <p:cxnSp>
        <p:nvCxnSpPr>
          <p:cNvPr id="29" name="Connector 28"/>
          <p:cNvCxnSpPr>
            <a:cxnSpLocks/>
            <a:stCxn id="14" idx="3"/>
            <a:endCxn id="19" idx="2"/>
          </p:cNvCxnSpPr>
          <p:nvPr/>
        </p:nvCxnSpPr>
        <p:spPr>
          <a:xfrm>
            <a:off x="6861048" y="3123185"/>
            <a:ext cx="979168" cy="3047"/>
          </a:xfrm>
          <a:prstGeom prst="line">
            <a:avLst/>
          </a:prstGeom>
          <a:ln w="25400">
            <a:solidFill>
              <a:srgbClr val="F2A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05244" y="2856230"/>
            <a:ext cx="86868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80" b="1" dirty="0">
                <a:solidFill>
                  <a:srgbClr val="F2AA1F"/>
                </a:solidFill>
                <a:latin typeface="Aptos"/>
              </a:rPr>
              <a:t>Mongoose</a:t>
            </a:r>
          </a:p>
        </p:txBody>
      </p:sp>
      <p:cxnSp>
        <p:nvCxnSpPr>
          <p:cNvPr id="32" name="Connector 31"/>
          <p:cNvCxnSpPr>
            <a:cxnSpLocks/>
            <a:stCxn id="14" idx="2"/>
            <a:endCxn id="23" idx="1"/>
          </p:cNvCxnSpPr>
          <p:nvPr/>
        </p:nvCxnSpPr>
        <p:spPr>
          <a:xfrm>
            <a:off x="5407152" y="4165600"/>
            <a:ext cx="2044954" cy="863094"/>
          </a:xfrm>
          <a:prstGeom prst="line">
            <a:avLst/>
          </a:prstGeom>
          <a:ln w="2540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88024" y="4411980"/>
            <a:ext cx="123444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080" b="1" dirty="0">
                <a:solidFill>
                  <a:srgbClr val="346BFF"/>
                </a:solidFill>
                <a:latin typeface="Aptos"/>
              </a:rPr>
              <a:t>APIs / events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" y="4709160"/>
            <a:ext cx="2011680" cy="731520"/>
          </a:xfrm>
          <a:prstGeom prst="roundRect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4882896"/>
            <a:ext cx="1682496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50" b="1">
                <a:solidFill>
                  <a:srgbClr val="1DB5A8"/>
                </a:solidFill>
                <a:latin typeface="Aptos"/>
              </a:rPr>
              <a:t>USER INTERFACE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138928"/>
            <a:ext cx="1792224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80" b="0">
                <a:solidFill>
                  <a:srgbClr val="0C2340"/>
                </a:solidFill>
                <a:latin typeface="Aptos"/>
              </a:rPr>
              <a:t>Search • manage • pay</a:t>
            </a:r>
          </a:p>
        </p:txBody>
      </p:sp>
      <p:cxnSp>
        <p:nvCxnSpPr>
          <p:cNvPr id="38" name="Connector 37"/>
          <p:cNvCxnSpPr>
            <a:cxnSpLocks/>
            <a:stCxn id="35" idx="0"/>
            <a:endCxn id="9" idx="2"/>
          </p:cNvCxnSpPr>
          <p:nvPr/>
        </p:nvCxnSpPr>
        <p:spPr>
          <a:xfrm flipV="1">
            <a:off x="1901952" y="4169662"/>
            <a:ext cx="13716" cy="539498"/>
          </a:xfrm>
          <a:prstGeom prst="line">
            <a:avLst/>
          </a:prstGeom>
          <a:ln w="25400">
            <a:solidFill>
              <a:srgbClr val="1DB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840480" y="4736592"/>
            <a:ext cx="2907792" cy="868680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23360" y="4892040"/>
            <a:ext cx="2542032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50" b="1">
                <a:solidFill>
                  <a:srgbClr val="346BFF"/>
                </a:solidFill>
                <a:latin typeface="Aptos"/>
              </a:rPr>
              <a:t>SERVER = SOURCE OF TRUTH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9936" y="5184648"/>
            <a:ext cx="24688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80" b="0">
                <a:solidFill>
                  <a:srgbClr val="0C2340"/>
                </a:solidFill>
                <a:latin typeface="Aptos"/>
              </a:rPr>
              <a:t>Authorization • sessions • billing</a:t>
            </a:r>
          </a:p>
        </p:txBody>
      </p:sp>
      <p:cxnSp>
        <p:nvCxnSpPr>
          <p:cNvPr id="42" name="Connector 41"/>
          <p:cNvCxnSpPr>
            <a:cxnSpLocks/>
            <a:stCxn id="39" idx="0"/>
            <a:endCxn id="14" idx="2"/>
          </p:cNvCxnSpPr>
          <p:nvPr/>
        </p:nvCxnSpPr>
        <p:spPr>
          <a:xfrm flipV="1">
            <a:off x="5294376" y="4165600"/>
            <a:ext cx="112776" cy="570992"/>
          </a:xfrm>
          <a:prstGeom prst="line">
            <a:avLst/>
          </a:prstGeom>
          <a:ln w="25400">
            <a:solidFill>
              <a:srgbClr val="34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931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9BEBEE-B78B-473E-9B9B-6D144262A9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501B0E-C48C-4726-8BF8-3312D72651F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REACT CLIENT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C83CE5-25A9-490F-93B0-8A51666E6E98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Frontend Architecture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223FBF-280A-4D6C-972F-EF063FB0871A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31892-5CDE-4C80-BA84-2553B58B197D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EF9F3-5871-46F0-95E8-C89610D075D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9EFE51-FA25-4998-8C2C-8DB096615955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Core stack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3D4B2-4E21-45F7-801D-076BC76EBA2A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4000500" cy="3381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React 1</a:t>
            </a:r>
            <a:r>
              <a:rPr lang="he-IL"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9</a:t>
            </a: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 + JavaScript / JSX</a:t>
            </a:r>
          </a:p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Vite 7</a:t>
            </a:r>
          </a:p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Tailwind CSS 4</a:t>
            </a:r>
          </a:p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React Router</a:t>
            </a:r>
          </a:p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Axios</a:t>
            </a:r>
          </a:p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Socket.IO Client</a:t>
            </a:r>
          </a:p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Leaflet + React Leaflet</a:t>
            </a:r>
          </a:p>
          <a:p>
            <a:pPr marL="425450" indent="-285750">
              <a:lnSpc>
                <a:spcPct val="108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PayPal React SDK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49372B6-6420-4279-BF6D-CFAFD59DCB75}"/>
              </a:ext>
            </a:extLst>
          </p:cNvPr>
          <p:cNvSpPr>
            <a:spLocks noGrp="1"/>
          </p:cNvSpPr>
          <p:nvPr/>
        </p:nvSpPr>
        <p:spPr>
          <a:xfrm>
            <a:off x="5238750" y="1619250"/>
            <a:ext cx="0" cy="428625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438C5-B6AB-492C-8A9D-BAADD46C4F0A}"/>
              </a:ext>
            </a:extLst>
          </p:cNvPr>
          <p:cNvSpPr>
            <a:spLocks noGrp="1"/>
          </p:cNvSpPr>
          <p:nvPr/>
        </p:nvSpPr>
        <p:spPr>
          <a:xfrm>
            <a:off x="5810250" y="17145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Application 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F0B964-CE92-46CD-82E9-D5F3B185227E}"/>
              </a:ext>
            </a:extLst>
          </p:cNvPr>
          <p:cNvSpPr>
            <a:spLocks noGrp="1"/>
          </p:cNvSpPr>
          <p:nvPr/>
        </p:nvSpPr>
        <p:spPr>
          <a:xfrm>
            <a:off x="5810250" y="2286000"/>
            <a:ext cx="53340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Pages — Home, All Lots, Payment, Price List, Settings, Dashboard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Components — parking views, editors, modals and map layouts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Contexts — authentication, sockets and display settings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Hooks — cities, lots and parking data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425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425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api.js — centralized Axios instance with credentials and CSRF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7D70B-76A3-4710-99B8-89B60AE95BED}"/>
              </a:ext>
            </a:extLst>
          </p:cNvPr>
          <p:cNvSpPr>
            <a:spLocks noGrp="1"/>
          </p:cNvSpPr>
          <p:nvPr/>
        </p:nvSpPr>
        <p:spPr>
          <a:xfrm>
            <a:off x="5810250" y="5429250"/>
            <a:ext cx="5334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Client preferences and favorites use Local Storage; authentication uses cookies only.</a:t>
            </a:r>
          </a:p>
        </p:txBody>
      </p:sp>
    </p:spTree>
    <p:extLst>
      <p:ext uri="{BB962C8B-B14F-4D97-AF65-F5344CB8AC3E}">
        <p14:creationId xmlns:p14="http://schemas.microsoft.com/office/powerpoint/2010/main" val="154151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B5A8"/>
                </a:solidFill>
                <a:latin typeface="Aptos"/>
              </a:rPr>
              <a:t>CLIENT-SIDE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C2340"/>
                </a:solidFill>
                <a:latin typeface="Aptos"/>
              </a:rPr>
              <a:t>Client Application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1620"/>
            <a:ext cx="104698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 dirty="0">
                <a:solidFill>
                  <a:srgbClr val="5E7185"/>
                </a:solidFill>
                <a:latin typeface="Aptos"/>
              </a:rPr>
              <a:t>The client handles navigation, interaction and live display, while domain rules stay on the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600200" cy="1325880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71216"/>
            <a:ext cx="132588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20" b="1">
                <a:solidFill>
                  <a:srgbClr val="0C2340"/>
                </a:solidFill>
                <a:latin typeface="Aptos"/>
              </a:rP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1325880" cy="47548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60" b="0">
                <a:solidFill>
                  <a:srgbClr val="0C2340"/>
                </a:solidFill>
                <a:latin typeface="Aptos"/>
              </a:rPr>
              <a:t>REST API</a:t>
            </a:r>
          </a:p>
          <a:p>
            <a:pPr algn="ctr"/>
            <a:r>
              <a:rPr sz="1360" b="0">
                <a:solidFill>
                  <a:srgbClr val="0C2340"/>
                </a:solidFill>
                <a:latin typeface="Aptos"/>
              </a:rPr>
              <a:t>Socket.IO</a:t>
            </a:r>
          </a:p>
          <a:p>
            <a:pPr algn="ctr"/>
            <a:r>
              <a:rPr sz="1360" b="0">
                <a:solidFill>
                  <a:srgbClr val="0C2340"/>
                </a:solidFill>
                <a:latin typeface="Aptos"/>
              </a:rPr>
              <a:t>Local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2743200"/>
            <a:ext cx="1691640" cy="1325880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2871216"/>
            <a:ext cx="141732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20" b="1" dirty="0">
                <a:solidFill>
                  <a:srgbClr val="0C2340"/>
                </a:solidFill>
                <a:latin typeface="Aptos"/>
              </a:rPr>
              <a:t>Client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3273552"/>
            <a:ext cx="1417320" cy="43891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60" b="0">
                <a:solidFill>
                  <a:srgbClr val="0C2340"/>
                </a:solidFill>
                <a:latin typeface="Aptos"/>
              </a:rPr>
              <a:t>api.js</a:t>
            </a:r>
          </a:p>
          <a:p>
            <a:pPr algn="ctr"/>
            <a:r>
              <a:rPr sz="1360" b="0">
                <a:solidFill>
                  <a:srgbClr val="0C2340"/>
                </a:solidFill>
                <a:latin typeface="Aptos"/>
              </a:rPr>
              <a:t>contexts</a:t>
            </a:r>
          </a:p>
          <a:p>
            <a:pPr algn="ctr"/>
            <a:r>
              <a:rPr sz="1360" b="0">
                <a:solidFill>
                  <a:srgbClr val="0C2340"/>
                </a:solidFill>
                <a:latin typeface="Aptos"/>
              </a:rPr>
              <a:t>hooks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743200"/>
            <a:ext cx="2011680" cy="1325880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5232" y="2834640"/>
            <a:ext cx="1682496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20" b="1">
                <a:solidFill>
                  <a:srgbClr val="0C2340"/>
                </a:solidFill>
                <a:latin typeface="Aptos"/>
              </a:rPr>
              <a:t>Pages &amp;</a:t>
            </a:r>
          </a:p>
          <a:p>
            <a:pPr algn="ctr"/>
            <a:r>
              <a:rPr sz="1520" b="1">
                <a:solidFill>
                  <a:srgbClr val="0C2340"/>
                </a:solidFill>
                <a:latin typeface="Aptos"/>
              </a:rPr>
              <a:t>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419856"/>
            <a:ext cx="1682496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40" b="0">
                <a:solidFill>
                  <a:srgbClr val="0C2340"/>
                </a:solidFill>
                <a:latin typeface="Aptos"/>
              </a:rPr>
              <a:t>Maps • forms</a:t>
            </a:r>
          </a:p>
          <a:p>
            <a:pPr algn="ctr"/>
            <a:r>
              <a:rPr sz="1340" b="0">
                <a:solidFill>
                  <a:srgbClr val="0C2340"/>
                </a:solidFill>
                <a:latin typeface="Aptos"/>
              </a:rPr>
              <a:t>modals •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938528"/>
            <a:ext cx="123444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2029968"/>
            <a:ext cx="123444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975104"/>
            <a:ext cx="164592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40" b="0">
                <a:solidFill>
                  <a:srgbClr val="0C2340"/>
                </a:solidFill>
                <a:latin typeface="Aptos"/>
              </a:rPr>
              <a:t>URL / route</a:t>
            </a:r>
          </a:p>
          <a:p>
            <a:pPr algn="l"/>
            <a:r>
              <a:rPr sz="1340" b="0">
                <a:solidFill>
                  <a:srgbClr val="0C2340"/>
                </a:solidFill>
                <a:latin typeface="Aptos"/>
              </a:rPr>
              <a:t>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590288"/>
            <a:ext cx="160020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4668" y="4804445"/>
            <a:ext cx="160020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0C2340"/>
                </a:solidFill>
                <a:latin typeface="Aptos"/>
              </a:rPr>
              <a:t>Reusable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4663440"/>
            <a:ext cx="1874519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40" b="0">
                <a:solidFill>
                  <a:srgbClr val="0C2340"/>
                </a:solidFill>
                <a:latin typeface="Aptos"/>
              </a:rPr>
              <a:t>Shared layout and</a:t>
            </a:r>
          </a:p>
          <a:p>
            <a:pPr algn="l"/>
            <a:r>
              <a:rPr sz="1340" b="0">
                <a:solidFill>
                  <a:srgbClr val="0C2340"/>
                </a:solidFill>
                <a:latin typeface="Aptos"/>
              </a:rPr>
              <a:t>visual parking maps</a:t>
            </a:r>
          </a:p>
        </p:txBody>
      </p:sp>
      <p:cxnSp>
        <p:nvCxnSpPr>
          <p:cNvPr id="24" name="Connector 23"/>
          <p:cNvCxnSpPr>
            <a:cxnSpLocks/>
            <a:stCxn id="9" idx="3"/>
            <a:endCxn id="12" idx="1"/>
          </p:cNvCxnSpPr>
          <p:nvPr/>
        </p:nvCxnSpPr>
        <p:spPr>
          <a:xfrm>
            <a:off x="2331720" y="3406140"/>
            <a:ext cx="768096" cy="0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45436" y="3178846"/>
            <a:ext cx="777239" cy="2026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0" dirty="0">
                <a:solidFill>
                  <a:srgbClr val="5E7185"/>
                </a:solidFill>
                <a:latin typeface="Aptos"/>
              </a:rPr>
              <a:t>read / write</a:t>
            </a:r>
          </a:p>
        </p:txBody>
      </p:sp>
      <p:cxnSp>
        <p:nvCxnSpPr>
          <p:cNvPr id="26" name="Connector 25"/>
          <p:cNvCxnSpPr>
            <a:cxnSpLocks/>
            <a:stCxn id="12" idx="3"/>
            <a:endCxn id="15" idx="1"/>
          </p:cNvCxnSpPr>
          <p:nvPr/>
        </p:nvCxnSpPr>
        <p:spPr>
          <a:xfrm>
            <a:off x="4791456" y="3406140"/>
            <a:ext cx="329184" cy="0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08192" y="2450592"/>
            <a:ext cx="0" cy="292608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4628" y="2522292"/>
            <a:ext cx="2240280" cy="2026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0" dirty="0">
                <a:solidFill>
                  <a:srgbClr val="5E7185"/>
                </a:solidFill>
                <a:latin typeface="Aptos"/>
              </a:rPr>
              <a:t>router selects</a:t>
            </a:r>
            <a:r>
              <a:rPr lang="en-US" sz="1150" b="0" dirty="0">
                <a:solidFill>
                  <a:srgbClr val="5E7185"/>
                </a:solidFill>
                <a:latin typeface="Aptos"/>
              </a:rPr>
              <a:t>  </a:t>
            </a:r>
            <a:r>
              <a:rPr sz="1150" b="0" dirty="0">
                <a:solidFill>
                  <a:srgbClr val="5E7185"/>
                </a:solidFill>
                <a:latin typeface="Aptos"/>
              </a:rPr>
              <a:t> the active page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144768" y="4069080"/>
            <a:ext cx="0" cy="521208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77740" y="4306098"/>
            <a:ext cx="2697480" cy="2026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0" dirty="0">
                <a:solidFill>
                  <a:srgbClr val="5E7185"/>
                </a:solidFill>
                <a:latin typeface="Aptos"/>
              </a:rPr>
              <a:t>shared UI renders </a:t>
            </a:r>
            <a:r>
              <a:rPr lang="en-US" sz="1150" b="0" dirty="0">
                <a:solidFill>
                  <a:srgbClr val="5E7185"/>
                </a:solidFill>
                <a:latin typeface="Aptos"/>
              </a:rPr>
              <a:t>  </a:t>
            </a:r>
            <a:r>
              <a:rPr sz="1150" b="0" dirty="0">
                <a:solidFill>
                  <a:srgbClr val="5E7185"/>
                </a:solidFill>
                <a:latin typeface="Aptos"/>
              </a:rPr>
              <a:t>the selected 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0" y="3401568"/>
            <a:ext cx="1417320" cy="0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68512" y="3182112"/>
            <a:ext cx="2148840" cy="3840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50" b="0">
                <a:solidFill>
                  <a:srgbClr val="0C2340"/>
                </a:solidFill>
                <a:latin typeface="Aptos"/>
              </a:rPr>
              <a:t>Rendered interface</a:t>
            </a:r>
          </a:p>
          <a:p>
            <a:pPr algn="l"/>
            <a:r>
              <a:rPr sz="1450" b="0">
                <a:solidFill>
                  <a:srgbClr val="0C2340"/>
                </a:solidFill>
                <a:latin typeface="Aptos"/>
              </a:rPr>
              <a:t>(HTML / visual state)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86400"/>
            <a:ext cx="10424160" cy="548640"/>
          </a:xfrm>
          <a:prstGeom prst="roundRect">
            <a:avLst/>
          </a:prstGeom>
          <a:solidFill>
            <a:srgbClr val="EDF2F7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4400" y="5614416"/>
            <a:ext cx="1234440" cy="237744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614416"/>
            <a:ext cx="1234440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40" b="1">
                <a:solidFill>
                  <a:srgbClr val="346BFF"/>
                </a:solidFill>
                <a:latin typeface="Aptos"/>
              </a:rPr>
              <a:t>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4288" y="5568696"/>
            <a:ext cx="3291840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Favorites and display preferences may use Local Storage.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61888" y="5614416"/>
            <a:ext cx="1097280" cy="237744"/>
          </a:xfrm>
          <a:prstGeom prst="roundRect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1888" y="5614416"/>
            <a:ext cx="1097280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40" b="1">
                <a:solidFill>
                  <a:srgbClr val="1DB5A8"/>
                </a:solidFill>
                <a:latin typeface="Aptos"/>
              </a:rPr>
              <a:t>AUTH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8896" y="5568696"/>
            <a:ext cx="365760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70" b="1">
                <a:solidFill>
                  <a:srgbClr val="0C2340"/>
                </a:solidFill>
                <a:latin typeface="Aptos"/>
              </a:rPr>
              <a:t>Authentication stays in secure cookies; pricing, session and payment rules stay on the server.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E28353-4DFA-4CC3-A54C-DA1610A2F7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6BBE08-CE0B-4BA5-A697-2CACAB8DFF00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NODE.JS SERVER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2F5041-9D1E-4440-B6A5-5575433004FB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Backend Architecture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C5444FE-1752-4245-AD40-D67CD030281C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85414-AB9E-4CAE-B384-789190010487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F1F71F-DAC8-4A12-A27E-40E588086B7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40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D88B7-E2DF-4960-80CB-051B32E7C64F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5140B-BB31-481C-9FFF-7B91AC2BDBFC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291465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Node.js ES Modules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Express 5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Socket.IO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Mongoose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AF5ED-BF75-4D20-AB4D-773EBEF9F123}"/>
              </a:ext>
            </a:extLst>
          </p:cNvPr>
          <p:cNvSpPr>
            <a:spLocks noGrp="1"/>
          </p:cNvSpPr>
          <p:nvPr/>
        </p:nvSpPr>
        <p:spPr>
          <a:xfrm>
            <a:off x="4429125" y="17526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DOMAIN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0A52C-1C16-4FFC-BFB1-CB4351F3314F}"/>
              </a:ext>
            </a:extLst>
          </p:cNvPr>
          <p:cNvSpPr>
            <a:spLocks noGrp="1"/>
          </p:cNvSpPr>
          <p:nvPr/>
        </p:nvSpPr>
        <p:spPr>
          <a:xfrm>
            <a:off x="4543425" y="2324100"/>
            <a:ext cx="291465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Authentication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Parking and sessions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LoRa processing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PayPal checkout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2333"/>
                </a:solidFill>
                <a:latin typeface="Arial"/>
                <a:ea typeface="Arial"/>
                <a:cs typeface="Arial"/>
              </a:rPr>
              <a:t>Receipts and 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CDAE2-ECE1-42C2-B1E6-7AEFEA3BE098}"/>
              </a:ext>
            </a:extLst>
          </p:cNvPr>
          <p:cNvSpPr>
            <a:spLocks noGrp="1"/>
          </p:cNvSpPr>
          <p:nvPr/>
        </p:nvSpPr>
        <p:spPr>
          <a:xfrm>
            <a:off x="8191500" y="175260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F7B3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7B32B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C1FEB0-3F87-41DB-90F7-A0727BDE8E98}"/>
              </a:ext>
            </a:extLst>
          </p:cNvPr>
          <p:cNvSpPr>
            <a:spLocks noGrp="1"/>
          </p:cNvSpPr>
          <p:nvPr/>
        </p:nvSpPr>
        <p:spPr>
          <a:xfrm>
            <a:off x="8305800" y="2324100"/>
            <a:ext cx="291465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JWT </a:t>
            </a:r>
            <a:r>
              <a:rPr lang="en-US"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Tokens</a:t>
            </a:r>
            <a:endParaRPr sz="1500" dirty="0">
              <a:solidFill>
                <a:srgbClr val="152333"/>
              </a:solidFill>
              <a:latin typeface="Arial"/>
              <a:ea typeface="Arial"/>
              <a:cs typeface="Arial"/>
            </a:endParaRP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 err="1">
                <a:solidFill>
                  <a:srgbClr val="152333"/>
                </a:solidFill>
                <a:latin typeface="Arial"/>
                <a:ea typeface="Arial"/>
                <a:cs typeface="Arial"/>
              </a:rPr>
              <a:t>bcrypt</a:t>
            </a:r>
            <a:endParaRPr sz="1500" dirty="0">
              <a:solidFill>
                <a:srgbClr val="152333"/>
              </a:solidFill>
              <a:latin typeface="Arial"/>
              <a:ea typeface="Arial"/>
              <a:cs typeface="Arial"/>
            </a:endParaRP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CORS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API keys</a:t>
            </a:r>
          </a:p>
          <a:p>
            <a:pPr marL="2540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Rate limiting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58A5B7-9044-400C-97C7-1E6EF1DA095E}"/>
              </a:ext>
            </a:extLst>
          </p:cNvPr>
          <p:cNvSpPr>
            <a:spLocks noGrp="1"/>
          </p:cNvSpPr>
          <p:nvPr/>
        </p:nvSpPr>
        <p:spPr>
          <a:xfrm>
            <a:off x="1809750" y="55054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071B2F"/>
                </a:solidFill>
                <a:latin typeface="Arial"/>
                <a:ea typeface="Arial"/>
                <a:cs typeface="Arial"/>
              </a:rPr>
              <a:t>Routes → Services → Repositories → MongoDB</a:t>
            </a:r>
          </a:p>
        </p:txBody>
      </p:sp>
    </p:spTree>
    <p:extLst>
      <p:ext uri="{BB962C8B-B14F-4D97-AF65-F5344CB8AC3E}">
        <p14:creationId xmlns:p14="http://schemas.microsoft.com/office/powerpoint/2010/main" val="17833283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B5A8"/>
                </a:solidFill>
                <a:latin typeface="Aptos"/>
              </a:rPr>
              <a:t>SERVER-SIDE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C2340"/>
                </a:solidFill>
                <a:latin typeface="Aptos"/>
              </a:rPr>
              <a:t>Server Application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9706"/>
            <a:ext cx="104698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 dirty="0">
                <a:solidFill>
                  <a:srgbClr val="5E7185"/>
                </a:solidFill>
                <a:latin typeface="Aptos"/>
              </a:rPr>
              <a:t>The backend receives requests, runs protected domain logic and persists the source of truth in MongoDB.</a:t>
            </a:r>
          </a:p>
        </p:txBody>
      </p:sp>
      <p:sp>
        <p:nvSpPr>
          <p:cNvPr id="9" name="Can 8"/>
          <p:cNvSpPr/>
          <p:nvPr/>
        </p:nvSpPr>
        <p:spPr>
          <a:xfrm>
            <a:off x="552451" y="2767837"/>
            <a:ext cx="1417320" cy="1554480"/>
          </a:xfrm>
          <a:prstGeom prst="can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187" y="3234181"/>
            <a:ext cx="1060704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700" b="1" dirty="0">
                <a:solidFill>
                  <a:srgbClr val="0C2340"/>
                </a:solidFill>
                <a:latin typeface="Aptos"/>
              </a:rPr>
              <a:t>MongoDB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6990" y="3044951"/>
            <a:ext cx="173736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6718" y="3209543"/>
            <a:ext cx="1517904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dirty="0">
                <a:solidFill>
                  <a:srgbClr val="0C2340"/>
                </a:solidFill>
                <a:latin typeface="Aptos"/>
              </a:rPr>
              <a:t>Repositories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6718" y="3520439"/>
            <a:ext cx="1517904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20" b="0">
                <a:solidFill>
                  <a:srgbClr val="0C2340"/>
                </a:solidFill>
                <a:latin typeface="Aptos"/>
              </a:rPr>
              <a:t>Mongoose queries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5540" y="2980943"/>
            <a:ext cx="2057400" cy="1261872"/>
          </a:xfrm>
          <a:prstGeom prst="rect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38420" y="3127247"/>
            <a:ext cx="169164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dirty="0">
                <a:solidFill>
                  <a:srgbClr val="0C2340"/>
                </a:solidFill>
                <a:latin typeface="Aptos"/>
              </a:rPr>
              <a:t>Controllers /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420" y="3666744"/>
            <a:ext cx="169164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20" b="0" dirty="0">
                <a:solidFill>
                  <a:srgbClr val="0C2340"/>
                </a:solidFill>
                <a:latin typeface="Aptos"/>
              </a:rPr>
              <a:t>Auth • parking</a:t>
            </a:r>
          </a:p>
          <a:p>
            <a:pPr algn="ctr"/>
            <a:r>
              <a:rPr sz="1320" b="0" dirty="0">
                <a:solidFill>
                  <a:srgbClr val="0C2340"/>
                </a:solidFill>
                <a:latin typeface="Aptos"/>
              </a:rPr>
              <a:t>sessions • billing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67020" y="2066543"/>
            <a:ext cx="123444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020" y="2157983"/>
            <a:ext cx="123444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0C2340"/>
                </a:solidFill>
                <a:latin typeface="Aptos"/>
              </a:rPr>
              <a:t>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103154"/>
            <a:ext cx="1234440" cy="438069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40" b="0" dirty="0">
                <a:solidFill>
                  <a:srgbClr val="0C2340"/>
                </a:solidFill>
                <a:latin typeface="Aptos"/>
              </a:rPr>
              <a:t>HTTP request</a:t>
            </a:r>
          </a:p>
          <a:p>
            <a:pPr algn="l"/>
            <a:r>
              <a:rPr sz="1340" b="0" dirty="0">
                <a:solidFill>
                  <a:srgbClr val="0C2340"/>
                </a:solidFill>
                <a:latin typeface="Aptos"/>
              </a:rPr>
              <a:t>/ webhook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8692" y="4791455"/>
            <a:ext cx="192024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4866132"/>
            <a:ext cx="173736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dirty="0">
                <a:solidFill>
                  <a:srgbClr val="0C2340"/>
                </a:solidFill>
                <a:latin typeface="Aptos"/>
              </a:rPr>
              <a:t>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5134356"/>
            <a:ext cx="173736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60" b="0" dirty="0">
                <a:solidFill>
                  <a:srgbClr val="0C2340"/>
                </a:solidFill>
                <a:latin typeface="Aptos"/>
              </a:rPr>
              <a:t>JWT • CSRF • CORS</a:t>
            </a:r>
          </a:p>
          <a:p>
            <a:pPr algn="ctr"/>
            <a:r>
              <a:rPr sz="1260" b="0" dirty="0">
                <a:solidFill>
                  <a:srgbClr val="0C2340"/>
                </a:solidFill>
                <a:latin typeface="Aptos"/>
              </a:rPr>
              <a:t>API keys • rate limits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736592"/>
            <a:ext cx="210312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79" y="4846320"/>
            <a:ext cx="1920240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External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5065776"/>
            <a:ext cx="1920240" cy="42575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300" b="0" dirty="0">
                <a:solidFill>
                  <a:srgbClr val="0C2340"/>
                </a:solidFill>
                <a:latin typeface="Aptos"/>
              </a:rPr>
              <a:t>PayPal • LoRa • </a:t>
            </a:r>
            <a:r>
              <a:rPr lang="en-US" sz="1300" dirty="0">
                <a:solidFill>
                  <a:srgbClr val="0C2340"/>
                </a:solidFill>
                <a:latin typeface="Aptos"/>
              </a:rPr>
              <a:t>G</a:t>
            </a:r>
            <a:r>
              <a:rPr lang="en-US" sz="1300" b="0" dirty="0">
                <a:solidFill>
                  <a:srgbClr val="0C2340"/>
                </a:solidFill>
                <a:latin typeface="Aptos"/>
              </a:rPr>
              <a:t>oogle apps script</a:t>
            </a:r>
            <a:endParaRPr sz="1300" b="0" dirty="0">
              <a:solidFill>
                <a:srgbClr val="0C2340"/>
              </a:solidFill>
              <a:latin typeface="Aptos"/>
            </a:endParaRPr>
          </a:p>
        </p:txBody>
      </p:sp>
      <p:cxnSp>
        <p:nvCxnSpPr>
          <p:cNvPr id="26" name="Connector 25"/>
          <p:cNvCxnSpPr>
            <a:cxnSpLocks/>
            <a:stCxn id="9" idx="4"/>
            <a:endCxn id="11" idx="1"/>
          </p:cNvCxnSpPr>
          <p:nvPr/>
        </p:nvCxnSpPr>
        <p:spPr>
          <a:xfrm>
            <a:off x="1969771" y="3545077"/>
            <a:ext cx="617219" cy="2794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55800" y="3172967"/>
            <a:ext cx="658368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0" dirty="0">
                <a:solidFill>
                  <a:srgbClr val="5E7185"/>
                </a:solidFill>
                <a:latin typeface="Aptos"/>
              </a:rPr>
              <a:t>read / write</a:t>
            </a:r>
          </a:p>
        </p:txBody>
      </p:sp>
      <p:cxnSp>
        <p:nvCxnSpPr>
          <p:cNvPr id="28" name="Connector 27"/>
          <p:cNvCxnSpPr>
            <a:cxnSpLocks/>
            <a:stCxn id="11" idx="3"/>
            <a:endCxn id="14" idx="1"/>
          </p:cNvCxnSpPr>
          <p:nvPr/>
        </p:nvCxnSpPr>
        <p:spPr>
          <a:xfrm>
            <a:off x="4324350" y="3547871"/>
            <a:ext cx="631190" cy="64008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10761" y="3182111"/>
            <a:ext cx="658368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0" dirty="0">
                <a:solidFill>
                  <a:srgbClr val="5E7185"/>
                </a:solidFill>
                <a:latin typeface="Aptos"/>
              </a:rPr>
              <a:t>data access</a:t>
            </a:r>
          </a:p>
        </p:txBody>
      </p:sp>
      <p:cxnSp>
        <p:nvCxnSpPr>
          <p:cNvPr id="30" name="Connector 29"/>
          <p:cNvCxnSpPr>
            <a:cxnSpLocks/>
            <a:stCxn id="17" idx="2"/>
            <a:endCxn id="14" idx="0"/>
          </p:cNvCxnSpPr>
          <p:nvPr/>
        </p:nvCxnSpPr>
        <p:spPr>
          <a:xfrm>
            <a:off x="5984240" y="2578607"/>
            <a:ext cx="0" cy="402336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772660" y="2678465"/>
            <a:ext cx="2240280" cy="2026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0" dirty="0">
                <a:solidFill>
                  <a:srgbClr val="5E7185"/>
                </a:solidFill>
                <a:latin typeface="Aptos"/>
              </a:rPr>
              <a:t>routes forward</a:t>
            </a:r>
            <a:r>
              <a:rPr lang="en-US" sz="1150" b="0" dirty="0">
                <a:solidFill>
                  <a:srgbClr val="5E7185"/>
                </a:solidFill>
                <a:latin typeface="Aptos"/>
              </a:rPr>
              <a:t> </a:t>
            </a:r>
            <a:r>
              <a:rPr sz="1150" b="0" dirty="0">
                <a:solidFill>
                  <a:srgbClr val="5E7185"/>
                </a:solidFill>
                <a:latin typeface="Aptos"/>
              </a:rPr>
              <a:t> the request</a:t>
            </a:r>
          </a:p>
        </p:txBody>
      </p:sp>
      <p:cxnSp>
        <p:nvCxnSpPr>
          <p:cNvPr id="32" name="Connector 31"/>
          <p:cNvCxnSpPr>
            <a:cxnSpLocks/>
            <a:stCxn id="20" idx="0"/>
            <a:endCxn id="14" idx="2"/>
          </p:cNvCxnSpPr>
          <p:nvPr/>
        </p:nvCxnSpPr>
        <p:spPr>
          <a:xfrm flipH="1" flipV="1">
            <a:off x="5984240" y="4242815"/>
            <a:ext cx="4572" cy="548640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6748272" y="3968496"/>
            <a:ext cx="1344168" cy="1143000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78624" y="4315241"/>
            <a:ext cx="1005840" cy="12801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50" b="0" dirty="0">
                <a:solidFill>
                  <a:srgbClr val="5E7185"/>
                </a:solidFill>
                <a:latin typeface="Aptos"/>
              </a:rPr>
              <a:t>integrations</a:t>
            </a:r>
          </a:p>
        </p:txBody>
      </p:sp>
      <p:cxnSp>
        <p:nvCxnSpPr>
          <p:cNvPr id="35" name="Connector 34"/>
          <p:cNvCxnSpPr>
            <a:cxnSpLocks/>
            <a:stCxn id="14" idx="3"/>
          </p:cNvCxnSpPr>
          <p:nvPr/>
        </p:nvCxnSpPr>
        <p:spPr>
          <a:xfrm flipV="1">
            <a:off x="7012940" y="3520439"/>
            <a:ext cx="1271524" cy="91440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98002" y="3268980"/>
            <a:ext cx="219456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50" b="0" dirty="0">
                <a:solidFill>
                  <a:srgbClr val="0C2340"/>
                </a:solidFill>
                <a:latin typeface="Aptos"/>
              </a:rPr>
              <a:t>HTTP response</a:t>
            </a:r>
          </a:p>
          <a:p>
            <a:pPr algn="l"/>
            <a:r>
              <a:rPr sz="1450" b="0" dirty="0">
                <a:solidFill>
                  <a:srgbClr val="0C2340"/>
                </a:solidFill>
                <a:latin typeface="Aptos"/>
              </a:rPr>
              <a:t>/ Socket broadcast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" y="5779007"/>
            <a:ext cx="10469880" cy="347472"/>
          </a:xfrm>
          <a:prstGeom prst="roundRect">
            <a:avLst/>
          </a:prstGeom>
          <a:solidFill>
            <a:srgbClr val="EDF2F7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5256" y="5843015"/>
            <a:ext cx="10104120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430" b="1">
                <a:solidFill>
                  <a:srgbClr val="346BFF"/>
                </a:solidFill>
                <a:latin typeface="Aptos"/>
              </a:rPr>
              <a:t>Engineering rule: routes stay thin; services own business rules; repositories isolate database access.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B5A8"/>
                </a:solidFill>
                <a:latin typeface="Aptos"/>
              </a:rPr>
              <a:t>PERSISTENT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C2340"/>
                </a:solidFill>
                <a:latin typeface="Aptos"/>
              </a:rPr>
              <a:t>MongoDB Data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260" y="1588262"/>
            <a:ext cx="1046988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 dirty="0">
                <a:solidFill>
                  <a:srgbClr val="5E7185"/>
                </a:solidFill>
                <a:latin typeface="Aptos"/>
              </a:rPr>
              <a:t>MongoDB stores the source of truth for parking lots, spaces, active sessions and payment-related records.</a:t>
            </a:r>
          </a:p>
        </p:txBody>
      </p:sp>
      <p:sp>
        <p:nvSpPr>
          <p:cNvPr id="9" name="Can 8"/>
          <p:cNvSpPr/>
          <p:nvPr/>
        </p:nvSpPr>
        <p:spPr>
          <a:xfrm>
            <a:off x="685800" y="3547554"/>
            <a:ext cx="1463040" cy="1691640"/>
          </a:xfrm>
          <a:prstGeom prst="can">
            <a:avLst/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068762"/>
            <a:ext cx="1078992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800" b="1" dirty="0">
                <a:solidFill>
                  <a:srgbClr val="0C2340"/>
                </a:solidFill>
                <a:latin typeface="Aptos"/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082"/>
            <a:ext cx="1170432" cy="1463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20" b="0">
                <a:solidFill>
                  <a:srgbClr val="5E7185"/>
                </a:solidFill>
                <a:latin typeface="Aptos"/>
              </a:rPr>
              <a:t>document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993392"/>
            <a:ext cx="2926080" cy="1536192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084832"/>
            <a:ext cx="26517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00" b="1">
                <a:solidFill>
                  <a:srgbClr val="1DB5A8"/>
                </a:solidFill>
                <a:latin typeface="Aptos"/>
              </a:rPr>
              <a:t>Core parking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77440"/>
            <a:ext cx="2651760" cy="1041311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1" dirty="0">
                <a:solidFill>
                  <a:srgbClr val="0C2340"/>
                </a:solidFill>
                <a:latin typeface="Aptos"/>
              </a:rPr>
              <a:t>Cit</a:t>
            </a:r>
            <a:r>
              <a:rPr lang="en-US" sz="1320" b="1" dirty="0">
                <a:solidFill>
                  <a:srgbClr val="0C2340"/>
                </a:solidFill>
                <a:latin typeface="Aptos"/>
              </a:rPr>
              <a:t>ies</a:t>
            </a:r>
            <a:endParaRPr sz="1320" b="1" dirty="0">
              <a:solidFill>
                <a:srgbClr val="0C2340"/>
              </a:solidFill>
              <a:latin typeface="Aptos"/>
            </a:endParaRPr>
          </a:p>
          <a:p>
            <a:pPr algn="l"/>
            <a:r>
              <a:rPr sz="1320" b="1" dirty="0" err="1">
                <a:solidFill>
                  <a:srgbClr val="0C2340"/>
                </a:solidFill>
                <a:latin typeface="Aptos"/>
              </a:rPr>
              <a:t>ParkingLot</a:t>
            </a:r>
            <a:r>
              <a:rPr lang="en-US" sz="1320" b="1" dirty="0" err="1">
                <a:solidFill>
                  <a:srgbClr val="0C2340"/>
                </a:solidFill>
                <a:latin typeface="Aptos"/>
              </a:rPr>
              <a:t>s</a:t>
            </a:r>
            <a:r>
              <a:rPr sz="1320" b="1" dirty="0">
                <a:solidFill>
                  <a:srgbClr val="0C2340"/>
                </a:solidFill>
                <a:latin typeface="Aptos"/>
              </a:rPr>
              <a:t> 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— location, pricing, exemptions</a:t>
            </a:r>
          </a:p>
          <a:p>
            <a:pPr algn="l"/>
            <a:r>
              <a:rPr sz="1320" b="1" dirty="0" err="1">
                <a:solidFill>
                  <a:srgbClr val="0C2340"/>
                </a:solidFill>
                <a:latin typeface="Aptos"/>
              </a:rPr>
              <a:t>ParkingSpot</a:t>
            </a:r>
            <a:r>
              <a:rPr lang="en-US" sz="1320" b="1" dirty="0" err="1">
                <a:solidFill>
                  <a:srgbClr val="0C2340"/>
                </a:solidFill>
                <a:latin typeface="Aptos"/>
              </a:rPr>
              <a:t>s</a:t>
            </a:r>
            <a:r>
              <a:rPr sz="1320" b="1" dirty="0">
                <a:solidFill>
                  <a:srgbClr val="0C2340"/>
                </a:solidFill>
                <a:latin typeface="Aptos"/>
              </a:rPr>
              <a:t> 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— level, number, type,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763454"/>
            <a:ext cx="2926080" cy="1317816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3854894"/>
            <a:ext cx="26517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00" b="1">
                <a:solidFill>
                  <a:srgbClr val="346BFF"/>
                </a:solidFill>
                <a:latin typeface="Aptos"/>
              </a:rPr>
              <a:t>Operational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0612" y="4147502"/>
            <a:ext cx="2788920" cy="83817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1" dirty="0" err="1">
                <a:solidFill>
                  <a:srgbClr val="0C2340"/>
                </a:solidFill>
                <a:latin typeface="Aptos"/>
              </a:rPr>
              <a:t>ParkingSession</a:t>
            </a:r>
            <a:r>
              <a:rPr lang="en-US" sz="1320" b="1" dirty="0" err="1">
                <a:solidFill>
                  <a:srgbClr val="0C2340"/>
                </a:solidFill>
                <a:latin typeface="Aptos"/>
              </a:rPr>
              <a:t>s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 — plate, entry/exit, payment state, exit window</a:t>
            </a:r>
          </a:p>
          <a:p>
            <a:pPr algn="l"/>
            <a:r>
              <a:rPr sz="1320" b="1" dirty="0">
                <a:solidFill>
                  <a:srgbClr val="0C2340"/>
                </a:solidFill>
                <a:latin typeface="Aptos"/>
              </a:rPr>
              <a:t>User</a:t>
            </a:r>
            <a:r>
              <a:rPr lang="en-US" sz="1320" b="1" dirty="0">
                <a:solidFill>
                  <a:srgbClr val="0C2340"/>
                </a:solidFill>
                <a:latin typeface="Aptos"/>
              </a:rPr>
              <a:t>s</a:t>
            </a:r>
            <a:r>
              <a:rPr sz="1320" b="1" dirty="0">
                <a:solidFill>
                  <a:srgbClr val="0C2340"/>
                </a:solidFill>
                <a:latin typeface="Aptos"/>
              </a:rPr>
              <a:t> 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— credentials and </a:t>
            </a:r>
            <a:r>
              <a:rPr sz="1320" b="0" dirty="0" err="1">
                <a:solidFill>
                  <a:srgbClr val="0C2340"/>
                </a:solidFill>
                <a:latin typeface="Aptos"/>
              </a:rPr>
              <a:t>authorizedCities</a:t>
            </a:r>
            <a:endParaRPr sz="1320" b="0" dirty="0">
              <a:solidFill>
                <a:srgbClr val="0C234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14600" y="5257800"/>
            <a:ext cx="3191256" cy="110227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5349240"/>
            <a:ext cx="26517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00" b="1">
                <a:solidFill>
                  <a:srgbClr val="F2AA1F"/>
                </a:solidFill>
                <a:latin typeface="Aptos"/>
              </a:rPr>
              <a:t>Support collections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0612" y="5726938"/>
            <a:ext cx="3075432" cy="431913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dirty="0" err="1">
                <a:solidFill>
                  <a:srgbClr val="0C2340"/>
                </a:solidFill>
                <a:latin typeface="Aptos"/>
              </a:rPr>
              <a:t>ParkingPayment</a:t>
            </a:r>
            <a:r>
              <a:rPr lang="en-US" sz="1320" dirty="0" err="1">
                <a:solidFill>
                  <a:srgbClr val="0C2340"/>
                </a:solidFill>
                <a:latin typeface="Aptos"/>
              </a:rPr>
              <a:t>s</a:t>
            </a:r>
            <a:r>
              <a:rPr sz="1320" dirty="0">
                <a:solidFill>
                  <a:srgbClr val="0C2340"/>
                </a:solidFill>
                <a:latin typeface="Aptos"/>
              </a:rPr>
              <a:t> • </a:t>
            </a:r>
            <a:r>
              <a:rPr lang="en-US" sz="1320" dirty="0" err="1">
                <a:solidFill>
                  <a:srgbClr val="0C2340"/>
                </a:solidFill>
                <a:latin typeface="Aptos"/>
              </a:rPr>
              <a:t>Paypalw</a:t>
            </a:r>
            <a:r>
              <a:rPr sz="1320" dirty="0" err="1">
                <a:solidFill>
                  <a:srgbClr val="0C2340"/>
                </a:solidFill>
                <a:latin typeface="Aptos"/>
              </a:rPr>
              <a:t>ebhookEvent</a:t>
            </a:r>
            <a:r>
              <a:rPr lang="en-US" sz="1320" dirty="0" err="1">
                <a:solidFill>
                  <a:srgbClr val="0C2340"/>
                </a:solidFill>
                <a:latin typeface="Aptos"/>
              </a:rPr>
              <a:t>s</a:t>
            </a:r>
            <a:r>
              <a:rPr sz="1320" dirty="0">
                <a:solidFill>
                  <a:srgbClr val="0C2340"/>
                </a:solidFill>
                <a:latin typeface="Aptos"/>
              </a:rPr>
              <a:t> • </a:t>
            </a:r>
            <a:r>
              <a:rPr sz="1320" dirty="0" err="1">
                <a:solidFill>
                  <a:srgbClr val="0C2340"/>
                </a:solidFill>
                <a:latin typeface="Aptos"/>
              </a:rPr>
              <a:t>RateLimitBucket</a:t>
            </a:r>
            <a:r>
              <a:rPr lang="en-US" sz="1320" dirty="0" err="1">
                <a:solidFill>
                  <a:srgbClr val="0C2340"/>
                </a:solidFill>
                <a:latin typeface="Aptos"/>
              </a:rPr>
              <a:t>s</a:t>
            </a:r>
            <a:r>
              <a:rPr sz="1320" dirty="0">
                <a:solidFill>
                  <a:srgbClr val="0C2340"/>
                </a:solidFill>
                <a:latin typeface="Aptos"/>
              </a:rPr>
              <a:t> • Camera</a:t>
            </a:r>
            <a:r>
              <a:rPr lang="en-US" sz="1320" dirty="0">
                <a:solidFill>
                  <a:srgbClr val="0C2340"/>
                </a:solidFill>
                <a:latin typeface="Aptos"/>
              </a:rPr>
              <a:t>s</a:t>
            </a:r>
            <a:endParaRPr sz="1320" dirty="0">
              <a:solidFill>
                <a:srgbClr val="0C234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06440" y="1993391"/>
            <a:ext cx="5074920" cy="1682495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2084832"/>
            <a:ext cx="48006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20" b="1">
                <a:solidFill>
                  <a:srgbClr val="1DB5A8"/>
                </a:solidFill>
                <a:latin typeface="Aptos"/>
              </a:rPr>
              <a:t>Why MongoDB fits this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377440"/>
            <a:ext cx="4800600" cy="11704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 dirty="0">
                <a:solidFill>
                  <a:srgbClr val="0C2340"/>
                </a:solidFill>
                <a:latin typeface="Aptos"/>
              </a:rPr>
              <a:t>Flexible documents match parking lots with evolving pricing and settings.</a:t>
            </a:r>
          </a:p>
          <a:p>
            <a:pPr algn="l"/>
            <a:r>
              <a:rPr sz="1320" b="0" dirty="0">
                <a:solidFill>
                  <a:srgbClr val="0C2340"/>
                </a:solidFill>
                <a:latin typeface="Aptos"/>
              </a:rPr>
              <a:t>Separate collections keep sessions, payments and webhook logs traceable.</a:t>
            </a:r>
          </a:p>
          <a:p>
            <a:pPr algn="l"/>
            <a:r>
              <a:rPr sz="1320" b="0" dirty="0">
                <a:solidFill>
                  <a:srgbClr val="0C2340"/>
                </a:solidFill>
                <a:latin typeface="Aptos"/>
              </a:rPr>
              <a:t>Mongoose schemas validate structure before records reach the database.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3858768"/>
            <a:ext cx="5074920" cy="179222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3950207"/>
            <a:ext cx="48006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20" b="1">
                <a:solidFill>
                  <a:srgbClr val="346BFF"/>
                </a:solidFill>
                <a:latin typeface="Aptos"/>
              </a:rPr>
              <a:t>How the database supports the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42816"/>
            <a:ext cx="4800600" cy="135331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Real-time updates change spot or session state in one persistent source.</a:t>
            </a:r>
          </a:p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Payment flow reads the active session, calculates debt and stores the final transaction.</a:t>
            </a:r>
          </a:p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Authorization data limits each manager to the cities assigned to the account.</a:t>
            </a:r>
          </a:p>
        </p:txBody>
      </p:sp>
      <p:cxnSp>
        <p:nvCxnSpPr>
          <p:cNvPr id="27" name="Connector 26"/>
          <p:cNvCxnSpPr>
            <a:cxnSpLocks/>
            <a:stCxn id="9" idx="4"/>
            <a:endCxn id="12" idx="1"/>
          </p:cNvCxnSpPr>
          <p:nvPr/>
        </p:nvCxnSpPr>
        <p:spPr>
          <a:xfrm flipV="1">
            <a:off x="2148840" y="2761488"/>
            <a:ext cx="365760" cy="1631886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9" idx="4"/>
            <a:endCxn id="15" idx="1"/>
          </p:cNvCxnSpPr>
          <p:nvPr/>
        </p:nvCxnSpPr>
        <p:spPr>
          <a:xfrm>
            <a:off x="2148840" y="4393374"/>
            <a:ext cx="365760" cy="28988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9" idx="4"/>
            <a:endCxn id="18" idx="1"/>
          </p:cNvCxnSpPr>
          <p:nvPr/>
        </p:nvCxnSpPr>
        <p:spPr>
          <a:xfrm>
            <a:off x="2148840" y="4393374"/>
            <a:ext cx="365760" cy="1415563"/>
          </a:xfrm>
          <a:prstGeom prst="line">
            <a:avLst/>
          </a:prstGeom>
          <a:ln w="21590">
            <a:solidFill>
              <a:srgbClr val="5E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419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B5A8"/>
                </a:solidFill>
                <a:latin typeface="Aptos"/>
              </a:rPr>
              <a:t>DATABASE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C2340"/>
                </a:solidFill>
                <a:latin typeface="Aptos"/>
              </a:rPr>
              <a:t>MongoDB Collections &amp; Design Notes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10424160" cy="228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620" b="0">
                <a:solidFill>
                  <a:srgbClr val="5E7185"/>
                </a:solidFill>
                <a:latin typeface="Aptos"/>
              </a:rPr>
              <a:t>A few key collections drive most of the product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11680"/>
            <a:ext cx="4983480" cy="731520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2011680"/>
            <a:ext cx="109728" cy="73152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121408"/>
            <a:ext cx="1783080" cy="25955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20" b="1" dirty="0" err="1">
                <a:solidFill>
                  <a:srgbClr val="1DB5A8"/>
                </a:solidFill>
                <a:latin typeface="Aptos"/>
              </a:rPr>
              <a:t>ParkingLot</a:t>
            </a:r>
            <a:r>
              <a:rPr lang="en-US" sz="1520" b="1" dirty="0" err="1">
                <a:solidFill>
                  <a:srgbClr val="1DB5A8"/>
                </a:solidFill>
                <a:latin typeface="Aptos"/>
              </a:rPr>
              <a:t>s</a:t>
            </a:r>
            <a:endParaRPr sz="1520" b="1" dirty="0">
              <a:solidFill>
                <a:srgbClr val="1DB5A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20340" y="2068308"/>
            <a:ext cx="29260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Stores address, city, tariff settings and exempt plates.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880360"/>
            <a:ext cx="4983480" cy="731520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" y="2880360"/>
            <a:ext cx="109728" cy="731520"/>
          </a:xfrm>
          <a:prstGeom prst="rect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2990088"/>
            <a:ext cx="1783080" cy="25955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20" b="1" dirty="0" err="1">
                <a:solidFill>
                  <a:srgbClr val="346BFF"/>
                </a:solidFill>
                <a:latin typeface="Aptos"/>
              </a:rPr>
              <a:t>ParkingSpot</a:t>
            </a:r>
            <a:r>
              <a:rPr lang="en-US" sz="1520" b="1" dirty="0" err="1">
                <a:solidFill>
                  <a:srgbClr val="346BFF"/>
                </a:solidFill>
                <a:latin typeface="Aptos"/>
              </a:rPr>
              <a:t>s</a:t>
            </a:r>
            <a:endParaRPr sz="1520" b="1" dirty="0">
              <a:solidFill>
                <a:srgbClr val="346B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20340" y="2936988"/>
            <a:ext cx="29260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Stores the spot number, level, type, status and layout-related info.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49039"/>
            <a:ext cx="4983480" cy="731520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749039"/>
            <a:ext cx="109728" cy="731520"/>
          </a:xfrm>
          <a:prstGeom prst="rect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858768"/>
            <a:ext cx="1783080" cy="25955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20" b="1" dirty="0" err="1">
                <a:solidFill>
                  <a:srgbClr val="F2AA1F"/>
                </a:solidFill>
                <a:latin typeface="Aptos"/>
              </a:rPr>
              <a:t>ParkingSession</a:t>
            </a:r>
            <a:r>
              <a:rPr lang="en-US" sz="1520" b="1" dirty="0" err="1">
                <a:solidFill>
                  <a:srgbClr val="F2AA1F"/>
                </a:solidFill>
                <a:latin typeface="Aptos"/>
              </a:rPr>
              <a:t>s</a:t>
            </a:r>
            <a:endParaRPr sz="1520" b="1" dirty="0">
              <a:solidFill>
                <a:srgbClr val="F2AA1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20340" y="3805667"/>
            <a:ext cx="29260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Tracks a vehicle from entry through billing, payment and the exit window.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617720"/>
            <a:ext cx="4983480" cy="731520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4617720"/>
            <a:ext cx="109728" cy="731520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727448"/>
            <a:ext cx="1783080" cy="25955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20" b="1" dirty="0" err="1">
                <a:solidFill>
                  <a:srgbClr val="1DB5A8"/>
                </a:solidFill>
                <a:latin typeface="Aptos"/>
              </a:rPr>
              <a:t>ParkingPayment</a:t>
            </a:r>
            <a:r>
              <a:rPr lang="en-US" sz="1520" b="1" dirty="0" err="1">
                <a:solidFill>
                  <a:srgbClr val="1DB5A8"/>
                </a:solidFill>
                <a:latin typeface="Aptos"/>
              </a:rPr>
              <a:t>s</a:t>
            </a:r>
            <a:endParaRPr sz="1520" b="1" dirty="0">
              <a:solidFill>
                <a:srgbClr val="1DB5A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20340" y="4674347"/>
            <a:ext cx="292608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 dirty="0">
                <a:solidFill>
                  <a:srgbClr val="0C2340"/>
                </a:solidFill>
                <a:latin typeface="Aptos"/>
              </a:rPr>
              <a:t>Stores checkout/order identifiers, captured amount and provider metadata.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011680"/>
            <a:ext cx="4709160" cy="10607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103120"/>
            <a:ext cx="443484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50" b="1">
                <a:solidFill>
                  <a:srgbClr val="1DB5A8"/>
                </a:solidFill>
                <a:latin typeface="Aptos"/>
              </a:rPr>
              <a:t>Relationship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404872"/>
            <a:ext cx="4434840" cy="603503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 dirty="0" err="1">
                <a:solidFill>
                  <a:srgbClr val="0C2340"/>
                </a:solidFill>
                <a:latin typeface="Aptos"/>
              </a:rPr>
              <a:t>ParkingLot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 → many </a:t>
            </a:r>
            <a:r>
              <a:rPr sz="1320" b="0" dirty="0" err="1">
                <a:solidFill>
                  <a:srgbClr val="0C2340"/>
                </a:solidFill>
                <a:latin typeface="Aptos"/>
              </a:rPr>
              <a:t>ParkingSpots</a:t>
            </a:r>
            <a:endParaRPr sz="1320" b="0" dirty="0">
              <a:solidFill>
                <a:srgbClr val="0C2340"/>
              </a:solidFill>
              <a:latin typeface="Aptos"/>
            </a:endParaRPr>
          </a:p>
          <a:p>
            <a:pPr algn="l"/>
            <a:r>
              <a:rPr sz="1320" b="0" dirty="0" err="1">
                <a:solidFill>
                  <a:srgbClr val="0C2340"/>
                </a:solidFill>
                <a:latin typeface="Aptos"/>
              </a:rPr>
              <a:t>ParkingLot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 + plate → active </a:t>
            </a:r>
            <a:r>
              <a:rPr sz="1320" b="0" dirty="0" err="1">
                <a:solidFill>
                  <a:srgbClr val="0C2340"/>
                </a:solidFill>
                <a:latin typeface="Aptos"/>
              </a:rPr>
              <a:t>ParkingSession</a:t>
            </a:r>
            <a:endParaRPr sz="1320" b="0" dirty="0">
              <a:solidFill>
                <a:srgbClr val="0C2340"/>
              </a:solidFill>
              <a:latin typeface="Aptos"/>
            </a:endParaRPr>
          </a:p>
          <a:p>
            <a:pPr algn="l"/>
            <a:r>
              <a:rPr sz="1320" b="0" dirty="0" err="1">
                <a:solidFill>
                  <a:srgbClr val="0C2340"/>
                </a:solidFill>
                <a:latin typeface="Aptos"/>
              </a:rPr>
              <a:t>ParkingSession</a:t>
            </a:r>
            <a:r>
              <a:rPr sz="1320" b="0" dirty="0">
                <a:solidFill>
                  <a:srgbClr val="0C2340"/>
                </a:solidFill>
                <a:latin typeface="Aptos"/>
              </a:rPr>
              <a:t> → zero or one final </a:t>
            </a:r>
            <a:r>
              <a:rPr sz="1320" b="0" dirty="0" err="1">
                <a:solidFill>
                  <a:srgbClr val="0C2340"/>
                </a:solidFill>
                <a:latin typeface="Aptos"/>
              </a:rPr>
              <a:t>ParkingPayment</a:t>
            </a:r>
            <a:endParaRPr sz="1320" b="0" dirty="0">
              <a:solidFill>
                <a:srgbClr val="0C2340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80760" y="3337560"/>
            <a:ext cx="4709160" cy="115214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3429000"/>
            <a:ext cx="443484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50" b="1">
                <a:solidFill>
                  <a:srgbClr val="346BFF"/>
                </a:solidFill>
                <a:latin typeface="Aptos"/>
              </a:rPr>
              <a:t>Operational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30752"/>
            <a:ext cx="4434840" cy="69494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WebhookEvent prevents duplicated webhook processing.</a:t>
            </a:r>
          </a:p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RateLimitBucket supports abuse control for sensitive endpoints.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4754880"/>
            <a:ext cx="4709160" cy="12893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4841748"/>
            <a:ext cx="443484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550" b="1">
                <a:solidFill>
                  <a:srgbClr val="F2AA1F"/>
                </a:solidFill>
                <a:latin typeface="Aptos"/>
              </a:rPr>
              <a:t>Design choices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148072"/>
            <a:ext cx="443484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The server computes pricing and session state; the client only displays the result.</a:t>
            </a:r>
          </a:p>
          <a:p>
            <a:pPr algn="l"/>
            <a:r>
              <a:rPr sz="1320" b="0">
                <a:solidFill>
                  <a:srgbClr val="0C2340"/>
                </a:solidFill>
                <a:latin typeface="Aptos"/>
              </a:rPr>
              <a:t>Collections are separated so auditing and debugging stay simple.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D8FC2D6-C1B4-4B2E-A8D9-C914141762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86D94B-C11C-4B81-93E0-416460E9B018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PRODUCTION CONCERNS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DE197-CF63-4CB3-896C-DFB748B21FE3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Security, Privacy &amp; Reliability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7AF3ED3-8B90-4E74-89CA-906141498FC2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19CB3-80F0-42BD-914A-7236835E4D48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DE5713-9E86-4306-8C35-7F21133AE3F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44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42A19-6260-4EA9-A849-D1E12A05DA8C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3FB89-2609-4E51-9379-9A264BDF1211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JWT stored in a secure cookie; Axios sends credentials.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7B57534-0C24-4535-AF46-14B74591A11B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0" cy="112395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2E154-0FE5-48E8-BE0F-6AD688FC601C}"/>
              </a:ext>
            </a:extLst>
          </p:cNvPr>
          <p:cNvSpPr>
            <a:spLocks noGrp="1"/>
          </p:cNvSpPr>
          <p:nvPr/>
        </p:nvSpPr>
        <p:spPr>
          <a:xfrm>
            <a:off x="6238875" y="169545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REQUEST INTEGRITY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45569-7B4E-45F5-9649-726AF958B8E1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lang="en-US" sz="1425" b="1" i="0" dirty="0">
                <a:solidFill>
                  <a:srgbClr val="071B2F"/>
                </a:solidFill>
                <a:latin typeface="Arial"/>
                <a:ea typeface="Arial"/>
                <a:cs typeface="Arial"/>
              </a:rPr>
              <a:t>JWT </a:t>
            </a:r>
            <a:r>
              <a:rPr sz="1425" b="1" i="0" dirty="0">
                <a:solidFill>
                  <a:srgbClr val="071B2F"/>
                </a:solidFill>
                <a:latin typeface="Arial"/>
                <a:ea typeface="Arial"/>
                <a:cs typeface="Arial"/>
              </a:rPr>
              <a:t>token handling and strict CORS origin validation.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811F3-7755-4A75-A831-976A6136C0C6}"/>
              </a:ext>
            </a:extLst>
          </p:cNvPr>
          <p:cNvSpPr>
            <a:spLocks noGrp="1"/>
          </p:cNvSpPr>
          <p:nvPr/>
        </p:nvSpPr>
        <p:spPr>
          <a:xfrm>
            <a:off x="666750" y="30765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EC2DDE-D4AB-445D-97C0-2C33DA915FA5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Manager access is scoped by authorizedCities.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8F65A00-9A92-47C0-B1C4-8A563387EB60}"/>
              </a:ext>
            </a:extLst>
          </p:cNvPr>
          <p:cNvSpPr>
            <a:spLocks noGrp="1"/>
          </p:cNvSpPr>
          <p:nvPr/>
        </p:nvSpPr>
        <p:spPr>
          <a:xfrm>
            <a:off x="6096000" y="3076575"/>
            <a:ext cx="0" cy="112395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DE6DD-D0D0-43D4-AB89-2B82A7D03399}"/>
              </a:ext>
            </a:extLst>
          </p:cNvPr>
          <p:cNvSpPr>
            <a:spLocks noGrp="1"/>
          </p:cNvSpPr>
          <p:nvPr/>
        </p:nvSpPr>
        <p:spPr>
          <a:xfrm>
            <a:off x="6238875" y="30765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ABUSE CONTROL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840F6-DE4B-4B98-AB9E-1FD5041D0A5E}"/>
              </a:ext>
            </a:extLst>
          </p:cNvPr>
          <p:cNvSpPr>
            <a:spLocks noGrp="1"/>
          </p:cNvSpPr>
          <p:nvPr/>
        </p:nvSpPr>
        <p:spPr>
          <a:xfrm>
            <a:off x="6238875" y="3476625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API keys and persistent rate-limiting buckets.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CA8735-3B04-4D09-A58E-B2338544C2C5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PAYMENT SAFETY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45644-D6CB-4425-9E85-2112FEE45296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Idempotent checkout design, locks and webhook deduplication.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54565C-A46F-433A-87BF-9A6E5DA17B8B}"/>
              </a:ext>
            </a:extLst>
          </p:cNvPr>
          <p:cNvSpPr>
            <a:spLocks noGrp="1"/>
          </p:cNvSpPr>
          <p:nvPr/>
        </p:nvSpPr>
        <p:spPr>
          <a:xfrm>
            <a:off x="6096000" y="4457700"/>
            <a:ext cx="0" cy="112395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1CE168-02EC-46DE-BDF5-6E91DB53317B}"/>
              </a:ext>
            </a:extLst>
          </p:cNvPr>
          <p:cNvSpPr>
            <a:spLocks noGrp="1"/>
          </p:cNvSpPr>
          <p:nvPr/>
        </p:nvSpPr>
        <p:spPr>
          <a:xfrm>
            <a:off x="6238875" y="44577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BFF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BFE61F-7A3E-4919-9CA7-25ABBDC1FBAD}"/>
              </a:ext>
            </a:extLst>
          </p:cNvPr>
          <p:cNvSpPr>
            <a:spLocks noGrp="1"/>
          </p:cNvSpPr>
          <p:nvPr/>
        </p:nvSpPr>
        <p:spPr>
          <a:xfrm>
            <a:off x="6238875" y="485775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Sensitive session data should remain outside public Socket rooms.</a:t>
            </a:r>
          </a:p>
        </p:txBody>
      </p:sp>
    </p:spTree>
    <p:extLst>
      <p:ext uri="{BB962C8B-B14F-4D97-AF65-F5344CB8AC3E}">
        <p14:creationId xmlns:p14="http://schemas.microsoft.com/office/powerpoint/2010/main" val="2008991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49A360D-61CD-48DA-A7FC-B46B555B32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2B6D13-86AA-4B99-BBEF-801FA1BF60A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SPECIFICATION VS.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B8F72E-AF8C-4234-82B7-D3A00BC92F89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Requirements Coverage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63BC65-1148-45D5-8BE6-43DF2A1DAB36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61F855-2F48-4A2E-AFDB-7E5BA0BAB50E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6B7C8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C8D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A047E4-B918-43FB-B8B6-24212216EF6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2D6B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45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E45523C-8AE9-4BB4-B1C3-D77043747CF9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0" cy="4476750"/>
          </a:xfrm>
          <a:prstGeom prst="line">
            <a:avLst/>
          </a:prstGeom>
          <a:noFill/>
          <a:ln w="9525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E4881A-4334-4B3D-9002-04C8A821E349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F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EAB975-6145-40C8-8AD8-E730E233C4DC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4810125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Multi-lot parking discovery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Spot and level status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LoRa API + simulator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Socket.IO real-time updates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Plate-based sessions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Driver and manager interfaces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Responsive mobile experience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Payment, receipt, pricing and accessibility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9368B3-0682-4D74-B6A9-636D66554E61}"/>
              </a:ext>
            </a:extLst>
          </p:cNvPr>
          <p:cNvSpPr>
            <a:spLocks noGrp="1"/>
          </p:cNvSpPr>
          <p:nvPr/>
        </p:nvSpPr>
        <p:spPr>
          <a:xfrm>
            <a:off x="6572250" y="163830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71B2F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071B2F"/>
                </a:solidFill>
                <a:latin typeface="Arial"/>
                <a:ea typeface="Arial"/>
                <a:cs typeface="Arial"/>
              </a:rPr>
              <a:t>Partially implemented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14B8D4-FFB8-4149-82FD-8377EE006D93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476250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Real LoRa hardware still needs field validation</a:t>
            </a:r>
          </a:p>
          <a:p>
            <a:pPr marL="425450" indent="-285750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152333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52333"/>
                </a:solidFill>
                <a:latin typeface="Arial"/>
                <a:ea typeface="Arial"/>
                <a:cs typeface="Arial"/>
              </a:rPr>
              <a:t>Three sites have image-based maps; others use the generic layout</a:t>
            </a:r>
          </a:p>
        </p:txBody>
      </p:sp>
    </p:spTree>
    <p:extLst>
      <p:ext uri="{BB962C8B-B14F-4D97-AF65-F5344CB8AC3E}">
        <p14:creationId xmlns:p14="http://schemas.microsoft.com/office/powerpoint/2010/main" val="1373316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B5A8"/>
                </a:solidFill>
                <a:latin typeface="Aptos"/>
              </a:rPr>
              <a:t>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C2340"/>
                </a:solidFill>
                <a:latin typeface="Aptos"/>
              </a:rPr>
              <a:t>Development Challenges &amp; Solutions 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469880" cy="10607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128016" cy="1060704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3474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800" b="1">
                <a:solidFill>
                  <a:srgbClr val="1DB5A8"/>
                </a:solidFill>
                <a:latin typeface="Aptos"/>
              </a:rPr>
              <a:t>Real-time synchronization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68296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0">
                <a:solidFill>
                  <a:srgbClr val="0C2340"/>
                </a:solidFill>
                <a:latin typeface="Aptos"/>
              </a:rPr>
              <a:t>Challenge: Multiple clients must see the same parking-space state without refreshing.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60904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1">
                <a:solidFill>
                  <a:srgbClr val="0C2340"/>
                </a:solidFill>
                <a:latin typeface="Aptos"/>
              </a:rPr>
              <a:t>Solution: Use Socket.IO city/user rooms and broadcast only after the server updates the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10128"/>
            <a:ext cx="10469880" cy="10607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310128"/>
            <a:ext cx="128016" cy="1060704"/>
          </a:xfrm>
          <a:prstGeom prst="rect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401568"/>
            <a:ext cx="3474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800" b="1">
                <a:solidFill>
                  <a:srgbClr val="346BFF"/>
                </a:solidFill>
                <a:latin typeface="Aptos"/>
              </a:rPr>
              <a:t>Secure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712464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0">
                <a:solidFill>
                  <a:srgbClr val="0C2340"/>
                </a:solidFill>
                <a:latin typeface="Aptos"/>
              </a:rPr>
              <a:t>Challenge: Manager access cannot rely on browser-stored tokens or broad global roles.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10104119" cy="244169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1" dirty="0">
                <a:solidFill>
                  <a:srgbClr val="0C2340"/>
                </a:solidFill>
                <a:latin typeface="Aptos"/>
              </a:rPr>
              <a:t>Solution: Move login to secure cookies, send credentials with Axios and enforce CORS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54296"/>
            <a:ext cx="10469880" cy="10607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654296"/>
            <a:ext cx="128016" cy="1060704"/>
          </a:xfrm>
          <a:prstGeom prst="rect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745736"/>
            <a:ext cx="3474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800" b="1">
                <a:solidFill>
                  <a:srgbClr val="F2AA1F"/>
                </a:solidFill>
                <a:latin typeface="Aptos"/>
              </a:rPr>
              <a:t>Reliable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056632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0">
                <a:solidFill>
                  <a:srgbClr val="0C2340"/>
                </a:solidFill>
                <a:latin typeface="Aptos"/>
              </a:rPr>
              <a:t>Challenge: Retries and asynchronous webhooks can create duplicate payment operations.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349240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1">
                <a:solidFill>
                  <a:srgbClr val="0C2340"/>
                </a:solidFill>
                <a:latin typeface="Aptos"/>
              </a:rPr>
              <a:t>Solution: Use checkout IDs, operation locks, PayPal request IDs and webhook deduplication.</a:t>
            </a:r>
          </a:p>
        </p:txBody>
      </p:sp>
    </p:spTree>
    <p:extLst>
      <p:ext uri="{BB962C8B-B14F-4D97-AF65-F5344CB8AC3E}">
        <p14:creationId xmlns:p14="http://schemas.microsoft.com/office/powerpoint/2010/main" val="1775894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B5A8"/>
                </a:solidFill>
                <a:latin typeface="Aptos"/>
              </a:rPr>
              <a:t>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C2340"/>
                </a:solidFill>
                <a:latin typeface="Aptos"/>
              </a:rPr>
              <a:t>Development Challenges &amp; Solutions II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3200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548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346BFF"/>
                </a:solidFill>
                <a:latin typeface="Aptos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469880" cy="10607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128016" cy="1060704"/>
          </a:xfrm>
          <a:prstGeom prst="rect">
            <a:avLst/>
          </a:prstGeom>
          <a:solidFill>
            <a:srgbClr val="3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3474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800" b="1">
                <a:solidFill>
                  <a:srgbClr val="346BFF"/>
                </a:solidFill>
                <a:latin typeface="Aptos"/>
              </a:rPr>
              <a:t>Email in cloud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68296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0">
                <a:solidFill>
                  <a:srgbClr val="0C2340"/>
                </a:solidFill>
                <a:latin typeface="Aptos"/>
              </a:rPr>
              <a:t>Challenge: Hosted environments made direct email delivery and credentials harder to manage reliably.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60904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1">
                <a:solidFill>
                  <a:srgbClr val="0C2340"/>
                </a:solidFill>
                <a:latin typeface="Aptos"/>
              </a:rPr>
              <a:t>Solution: Use a Google Apps Script HTTP webhook as a cloud-friendly bridge and keep provider settings configurable.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10128"/>
            <a:ext cx="10469880" cy="10607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310128"/>
            <a:ext cx="128016" cy="1060704"/>
          </a:xfrm>
          <a:prstGeom prst="rect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401568"/>
            <a:ext cx="3474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800" b="1">
                <a:solidFill>
                  <a:srgbClr val="1DB5A8"/>
                </a:solidFill>
                <a:latin typeface="Aptos"/>
              </a:rPr>
              <a:t>Different parking geometries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712464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0">
                <a:solidFill>
                  <a:srgbClr val="0C2340"/>
                </a:solidFill>
                <a:latin typeface="Aptos"/>
              </a:rPr>
              <a:t>Challenge: Each parking lot can have a different image, orientation and spot arrangement.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1">
                <a:solidFill>
                  <a:srgbClr val="0C2340"/>
                </a:solidFill>
                <a:latin typeface="Aptos"/>
              </a:rPr>
              <a:t>Solution: Render all lots through one ParkingMapLayout component plus per-lot configuration and a generic fallback.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54296"/>
            <a:ext cx="10469880" cy="1060704"/>
          </a:xfrm>
          <a:prstGeom prst="roundRect">
            <a:avLst/>
          </a:prstGeom>
          <a:solidFill>
            <a:srgbClr val="F9FBFC"/>
          </a:solidFill>
          <a:ln w="15875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654296"/>
            <a:ext cx="128016" cy="1060704"/>
          </a:xfrm>
          <a:prstGeom prst="rect">
            <a:avLst/>
          </a:prstGeom>
          <a:solidFill>
            <a:srgbClr val="F2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745736"/>
            <a:ext cx="3474720" cy="1828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800" b="1">
                <a:solidFill>
                  <a:srgbClr val="F2AA1F"/>
                </a:solidFill>
                <a:latin typeface="Aptos"/>
              </a:rPr>
              <a:t>Large lot creation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056632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0">
                <a:solidFill>
                  <a:srgbClr val="0C2340"/>
                </a:solidFill>
                <a:latin typeface="Aptos"/>
              </a:rPr>
              <a:t>Challenge: Creating dozens of parking spaces through separate browser requests was slow and fragile.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349240"/>
            <a:ext cx="10104119" cy="16459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20" b="1">
                <a:solidFill>
                  <a:srgbClr val="0C2340"/>
                </a:solidFill>
                <a:latin typeface="Aptos"/>
              </a:rPr>
              <a:t>Solution: Add a bulk /with-spots endpoint so the lot and its initial spaces are created in one server-side flow.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3891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DB5A8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69848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900" b="1">
                <a:solidFill>
                  <a:srgbClr val="0C2340"/>
                </a:solidFill>
                <a:latin typeface="Aptos"/>
              </a:rPr>
              <a:t>Conclusions &amp; Further Development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16736"/>
            <a:ext cx="11082528" cy="0"/>
          </a:xfrm>
          <a:prstGeom prst="line">
            <a:avLst/>
          </a:prstGeom>
          <a:ln w="1270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3145536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50" b="1">
                <a:solidFill>
                  <a:srgbClr val="5E7185"/>
                </a:solidFill>
                <a:latin typeface="Aptos"/>
              </a:rPr>
              <a:t>SMART PARKING  / 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50292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250" b="1">
                <a:solidFill>
                  <a:srgbClr val="346BFF"/>
                </a:solidFill>
                <a:latin typeface="Apto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44805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>
                <a:solidFill>
                  <a:srgbClr val="0C2340"/>
                </a:solidFill>
                <a:latin typeface="Aptos"/>
              </a:rPr>
              <a:t>What the project demonstrated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627632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>
                <a:solidFill>
                  <a:srgbClr val="0C2340"/>
                </a:solidFill>
                <a:latin typeface="Aptos"/>
              </a:rPr>
              <a:t>Priority areas for further development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1627632"/>
            <a:ext cx="0" cy="4133088"/>
          </a:xfrm>
          <a:prstGeom prst="line">
            <a:avLst/>
          </a:prstGeom>
          <a:ln w="15240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31520" y="2267712"/>
            <a:ext cx="384048" cy="38404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384048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31136"/>
            <a:ext cx="38404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80" b="1">
                <a:solidFill>
                  <a:srgbClr val="1DB5A8"/>
                </a:solidFill>
                <a:latin typeface="Aptos"/>
              </a:rPr>
              <a:t>Unified parking 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569464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60" b="0">
                <a:solidFill>
                  <a:srgbClr val="0C2340"/>
                </a:solidFill>
                <a:latin typeface="Aptos"/>
              </a:rPr>
              <a:t>Discovery, live availability, management and payment can operate through one platform.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19856"/>
            <a:ext cx="384048" cy="38404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384048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383280"/>
            <a:ext cx="38404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80" b="1">
                <a:solidFill>
                  <a:srgbClr val="1DB5A8"/>
                </a:solidFill>
                <a:latin typeface="Aptos"/>
              </a:rPr>
              <a:t>Server-owned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21608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60" b="0">
                <a:solidFill>
                  <a:srgbClr val="0C2340"/>
                </a:solidFill>
                <a:latin typeface="Aptos"/>
              </a:rPr>
              <a:t>Parking sessions, billing and authorization remain consistent while clients receive real-time updates.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72000"/>
            <a:ext cx="384048" cy="384048"/>
          </a:xfrm>
          <a:prstGeom prst="ellipse">
            <a:avLst/>
          </a:prstGeom>
          <a:solidFill>
            <a:srgbClr val="1D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626864"/>
            <a:ext cx="384048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35424"/>
            <a:ext cx="38404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80" b="1">
                <a:solidFill>
                  <a:srgbClr val="1DB5A8"/>
                </a:solidFill>
                <a:latin typeface="Aptos"/>
              </a:rPr>
              <a:t>Reusable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873752"/>
            <a:ext cx="3840480" cy="4754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60" b="0">
                <a:solidFill>
                  <a:srgbClr val="0C2340"/>
                </a:solidFill>
                <a:latin typeface="Aptos"/>
              </a:rPr>
              <a:t>Shared components, generic fallbacks and layered backend logic make additional parking lots easier to onboard.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157984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89320" y="2157984"/>
            <a:ext cx="530352" cy="804672"/>
          </a:xfrm>
          <a:prstGeom prst="roundRect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62472" y="2423160"/>
            <a:ext cx="384048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20" b="1">
                <a:solidFill>
                  <a:srgbClr val="1DB5A8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286000"/>
            <a:ext cx="155448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20" b="1">
                <a:solidFill>
                  <a:srgbClr val="1DB5A8"/>
                </a:solidFill>
                <a:latin typeface="Aptos"/>
              </a:rPr>
              <a:t>Field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49424"/>
            <a:ext cx="2542032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60" b="0">
                <a:solidFill>
                  <a:srgbClr val="0C2340"/>
                </a:solidFill>
                <a:latin typeface="Aptos"/>
              </a:rPr>
              <a:t>Connect real LoRa hardware, run longer pilots and validate sensor accuracy and failure handling.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3054096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89320" y="3054096"/>
            <a:ext cx="530352" cy="804672"/>
          </a:xfrm>
          <a:prstGeom prst="roundRect">
            <a:avLst/>
          </a:prstGeom>
          <a:solidFill>
            <a:srgbClr val="E5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62472" y="3319272"/>
            <a:ext cx="384048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20" b="1">
                <a:solidFill>
                  <a:srgbClr val="346BFF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82112"/>
            <a:ext cx="155448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20" b="1">
                <a:solidFill>
                  <a:srgbClr val="346BFF"/>
                </a:solidFill>
                <a:latin typeface="Aptos"/>
              </a:rPr>
              <a:t>Occupancy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145536"/>
            <a:ext cx="2542032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60" b="0">
                <a:solidFill>
                  <a:srgbClr val="0C2340"/>
                </a:solidFill>
                <a:latin typeface="Aptos"/>
              </a:rPr>
              <a:t>Add historical occupancy trends, peak-hour views and operator reporting dashboards.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950208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89320" y="3950208"/>
            <a:ext cx="530352" cy="804672"/>
          </a:xfrm>
          <a:prstGeom prst="roundRect">
            <a:avLst/>
          </a:prstGeom>
          <a:solidFill>
            <a:srgbClr val="FB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62472" y="4215384"/>
            <a:ext cx="384048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20" b="1">
                <a:solidFill>
                  <a:srgbClr val="F2AA1F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078224"/>
            <a:ext cx="155448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20" b="1">
                <a:solidFill>
                  <a:srgbClr val="F2AA1F"/>
                </a:solidFill>
                <a:latin typeface="Aptos"/>
              </a:rPr>
              <a:t>Visual layout editor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041648"/>
            <a:ext cx="2542032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60" b="0">
                <a:solidFill>
                  <a:srgbClr val="0C2340"/>
                </a:solidFill>
                <a:latin typeface="Aptos"/>
              </a:rPr>
              <a:t>Let managers upload a parking image and configure spot position, size and rotation without code changes.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84632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989320" y="4846320"/>
            <a:ext cx="530352" cy="804672"/>
          </a:xfrm>
          <a:prstGeom prst="roundRect">
            <a:avLst/>
          </a:prstGeom>
          <a:solidFill>
            <a:srgbClr val="D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62472" y="5111496"/>
            <a:ext cx="384048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20" b="1">
                <a:solidFill>
                  <a:srgbClr val="1DB5A8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974336"/>
            <a:ext cx="155448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20" b="1">
                <a:solidFill>
                  <a:srgbClr val="1DB5A8"/>
                </a:solidFill>
                <a:latin typeface="Aptos"/>
              </a:rPr>
              <a:t>Production hardening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937759"/>
            <a:ext cx="2542032" cy="6035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60" b="0">
                <a:solidFill>
                  <a:srgbClr val="0C2340"/>
                </a:solidFill>
                <a:latin typeface="Aptos"/>
              </a:rPr>
              <a:t>Add monitoring, load testing, delivery/payment configuration checks and stronger recovery for external-service failures.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961888"/>
            <a:ext cx="10424160" cy="393192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6053328"/>
            <a:ext cx="100584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The current prototype provides a modular base for moving from a university project toward a real parking pilot.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6AD9D18-A5C2-44A9-8C0A-52A10F8416EF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CC9F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CC9F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E1964C-2A61-48EC-A37A-60379FDADD90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PARKING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395EC7-6DB1-403D-BA0F-2B7849D798BF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9144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C7D9E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7D9E7"/>
                </a:solidFill>
                <a:latin typeface="Arial"/>
                <a:ea typeface="Arial"/>
                <a:cs typeface="Arial"/>
              </a:rPr>
              <a:t>A single platform connects parking discovery, live operations, management and payment.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DDB171-6EFD-4E42-8D76-C35F08D28640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247650" cy="247650"/>
          </a:xfrm>
          <a:prstGeom prst="ellipse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F14202-141A-43C4-8D01-0B7DB292659D}"/>
              </a:ext>
            </a:extLst>
          </p:cNvPr>
          <p:cNvSpPr>
            <a:spLocks noGrp="1"/>
          </p:cNvSpPr>
          <p:nvPr/>
        </p:nvSpPr>
        <p:spPr>
          <a:xfrm>
            <a:off x="1085850" y="33337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Multi-city and spot-level visibility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74E7C7-D247-426E-A47E-256B29AB25C0}"/>
              </a:ext>
            </a:extLst>
          </p:cNvPr>
          <p:cNvSpPr>
            <a:spLocks noGrp="1"/>
          </p:cNvSpPr>
          <p:nvPr/>
        </p:nvSpPr>
        <p:spPr>
          <a:xfrm>
            <a:off x="5781675" y="3371850"/>
            <a:ext cx="247650" cy="247650"/>
          </a:xfrm>
          <a:prstGeom prst="ellipse">
            <a:avLst/>
          </a:prstGeom>
          <a:solidFill>
            <a:srgbClr val="4CC9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21FD7-A32E-41DC-8F9E-29F467B603A3}"/>
              </a:ext>
            </a:extLst>
          </p:cNvPr>
          <p:cNvSpPr>
            <a:spLocks noGrp="1"/>
          </p:cNvSpPr>
          <p:nvPr/>
        </p:nvSpPr>
        <p:spPr>
          <a:xfrm>
            <a:off x="6181725" y="33337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LoRa and Socket.IO updates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C6CD80-64A4-461B-88BF-6EED8B38015C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247650" cy="247650"/>
          </a:xfrm>
          <a:prstGeom prst="ellipse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B924E0-615E-412A-90B7-FAAEE8400A39}"/>
              </a:ext>
            </a:extLst>
          </p:cNvPr>
          <p:cNvSpPr>
            <a:spLocks noGrp="1"/>
          </p:cNvSpPr>
          <p:nvPr/>
        </p:nvSpPr>
        <p:spPr>
          <a:xfrm>
            <a:off x="1085850" y="40957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 manager workflows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B517B5-F80B-42D2-B41E-099974293B02}"/>
              </a:ext>
            </a:extLst>
          </p:cNvPr>
          <p:cNvSpPr>
            <a:spLocks noGrp="1"/>
          </p:cNvSpPr>
          <p:nvPr/>
        </p:nvSpPr>
        <p:spPr>
          <a:xfrm>
            <a:off x="5781675" y="4133850"/>
            <a:ext cx="247650" cy="247650"/>
          </a:xfrm>
          <a:prstGeom prst="ellipse">
            <a:avLst/>
          </a:prstGeom>
          <a:solidFill>
            <a:srgbClr val="4CC9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5C1AB-72B2-47E7-99F3-C6FF94BE640E}"/>
              </a:ext>
            </a:extLst>
          </p:cNvPr>
          <p:cNvSpPr>
            <a:spLocks noGrp="1"/>
          </p:cNvSpPr>
          <p:nvPr/>
        </p:nvSpPr>
        <p:spPr>
          <a:xfrm>
            <a:off x="6181725" y="40957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PayPal, receipt and exit timer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4B2595-748D-4B0D-82F9-9E5FDF8F05EA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247650" cy="247650"/>
          </a:xfrm>
          <a:prstGeom prst="ellipse">
            <a:avLst/>
          </a:prstGeom>
          <a:solidFill>
            <a:srgbClr val="16B7A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A966E5-304C-4410-9FDD-5DED4CCE5E84}"/>
              </a:ext>
            </a:extLst>
          </p:cNvPr>
          <p:cNvSpPr>
            <a:spLocks noGrp="1"/>
          </p:cNvSpPr>
          <p:nvPr/>
        </p:nvSpPr>
        <p:spPr>
          <a:xfrm>
            <a:off x="1085850" y="48577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Accessible mobile-first experience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B67B37-2C9B-4F15-9DCC-89352D059C8C}"/>
              </a:ext>
            </a:extLst>
          </p:cNvPr>
          <p:cNvSpPr>
            <a:spLocks noGrp="1"/>
          </p:cNvSpPr>
          <p:nvPr/>
        </p:nvSpPr>
        <p:spPr>
          <a:xfrm>
            <a:off x="5781675" y="4895850"/>
            <a:ext cx="247650" cy="247650"/>
          </a:xfrm>
          <a:prstGeom prst="ellipse">
            <a:avLst/>
          </a:prstGeom>
          <a:solidFill>
            <a:srgbClr val="4CC9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9FE37-4EA2-4E0E-88BE-41F4B3B4EF27}"/>
              </a:ext>
            </a:extLst>
          </p:cNvPr>
          <p:cNvSpPr>
            <a:spLocks noGrp="1"/>
          </p:cNvSpPr>
          <p:nvPr/>
        </p:nvSpPr>
        <p:spPr>
          <a:xfrm>
            <a:off x="6181725" y="48577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Reusable visual layout 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33EB3E-0136-4327-9AB3-2FDA1C7F2240}"/>
              </a:ext>
            </a:extLst>
          </p:cNvPr>
          <p:cNvSpPr>
            <a:spLocks noGrp="1"/>
          </p:cNvSpPr>
          <p:nvPr/>
        </p:nvSpPr>
        <p:spPr>
          <a:xfrm>
            <a:off x="7667625" y="56197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500" b="1" i="0">
                <a:solidFill>
                  <a:srgbClr val="16B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B7A5"/>
                </a:solidFill>
                <a:latin typeface="Arial"/>
                <a:ea typeface="Arial"/>
                <a:cs typeface="Arial"/>
              </a:rPr>
              <a:t>THANK YOU  •  QUESTIONS?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308158-9ADF-4D9F-8BDA-7032B268AD35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314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A8BED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8BED2"/>
                </a:solidFill>
                <a:latin typeface="Arial"/>
                <a:ea typeface="Arial"/>
                <a:cs typeface="Arial"/>
              </a:rPr>
              <a:t>SMART PARKING  /  HIT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AFA069-2663-46D4-BB53-5FBDB9ABCCD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4CC9F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346BFF"/>
                </a:solidFill>
                <a:latin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7276328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0241" dir="4293903">
              <a:srgbClr val="071B2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0241" dir="4293903">
              <a:srgbClr val="071B2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4007</Words>
  <Application>Microsoft Office PowerPoint</Application>
  <DocSecurity>0</DocSecurity>
  <PresentationFormat>Widescreen</PresentationFormat>
  <Paragraphs>896</Paragraphs>
  <Slides>49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Aptos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Matthew Tsiplakov</cp:lastModifiedBy>
  <cp:revision>33</cp:revision>
  <dcterms:created xsi:type="dcterms:W3CDTF">2026-09-24T20:08:51Z</dcterms:created>
  <dcterms:modified xsi:type="dcterms:W3CDTF">2026-10-04T10:03:53Z</dcterms:modified>
</cp:coreProperties>
</file>